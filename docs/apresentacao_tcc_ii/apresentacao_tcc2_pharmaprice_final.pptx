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9" r:id="rId20"/>
    <p:sldId id="270" r:id="rId21"/>
    <p:sldId id="271" r:id="rId22"/>
    <p:sldId id="272" r:id="rId23"/>
    <p:sldId id="267" r:id="rId17"/>
    <p:sldId id="273" r:id="rId24"/>
    <p:sldId id="268" r:id="rId18"/>
    <p:sldId id="274" r:id="rId25"/>
    <p:sldId id="275" r:id="rId2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i6a88P81NV+EeywUm/yj8r7V1i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CB32090-3C25-4073-ABD7-ADC7C44AA47A}">
  <a:tblStyle styleId="{4CB32090-3C25-4073-ABD7-ADC7C44AA47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
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  <Relationship Id="rId20" Type="http://schemas.openxmlformats.org/officeDocument/2006/relationships/slide" Target="slides/slide14.xml"/>
  <Relationship Id="rId21" Type="http://schemas.openxmlformats.org/officeDocument/2006/relationships/slide" Target="slides/slide15.xml"/>
  <Relationship Id="rId22" Type="http://schemas.openxmlformats.org/officeDocument/2006/relationships/slide" Target="slides/slide16.xml"/>
  <Relationship Id="rId23" Type="http://schemas.openxmlformats.org/officeDocument/2006/relationships/slide" Target="slides/slide17.xml"/>
  <Relationship Id="rId24" Type="http://schemas.openxmlformats.org/officeDocument/2006/relationships/slide" Target="slides/slide18.xml"/>
  <Relationship Id="rId25" Type="http://schemas.openxmlformats.org/officeDocument/2006/relationships/slide" Target="slides/slide19.xml"/>
  <Relationship Id="rId26" Type="http://schemas.openxmlformats.org/officeDocument/2006/relationships/slide" Target="slides/slide20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Bom dia a todos. Meu nome e Bernardo Oliveira Duarte e vou apresentar o TCC 2, a etapa de implementacao do PharmaPrice, sob orientacao do professor Emerson.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 problema central e a falta de visibilidade do PMC da CMED no momento da compra. Existem diferencas relevantes entre o preco praticado e o teto regulatorio, como mostram os estudos de Souza e colegas e de Melo e colegas.</a:t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Plataformas comerciais como Consulta Remedios e CliqueFarma nao mostram o teto da CMED, funcionam com publicidade e nao abrem o codigo. O PharmaPrice se diferencia justamente nesses pontos.</a:t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 TCC 1 propos o modelo conceitual, publicado nos anais do TOI 2026. O TCC 2 e a fase de implementacao, com escopo delimitado formalmente com o orientador antes de comecar a desenvolver.</a:t>
            </a:r>
            <a:endParaRPr/>
          </a:p>
        </p:txBody>
      </p:sp>
      <p:sp>
        <p:nvSpPr>
          <p:cNvPr id="55" name="Google Shape;5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 objetivo geral e implementar e avaliar tecnicamente o prototipo. Os objetivos especificos cobrem o pipeline CMED, a API REST, o frontend e a verificacao de qualidade por testes.</a:t>
            </a:r>
            <a:endParaRPr/>
          </a:p>
        </p:txBody>
      </p:sp>
      <p:sp>
        <p:nvSpPr>
          <p:cNvPr id="69" name="Google Shape;6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Antes de comecar a implementar, alinhei esse escopo por escrito com o Emerson. Ficaram de fora as funcionalidades mais complexas do modelo conceitual original, tratadas como trabalhos futuros.</a:t>
            </a:r>
            <a:endParaRPr/>
          </a:p>
        </p:txBody>
      </p:sp>
      <p:sp>
        <p:nvSpPr>
          <p:cNvPr id="90" name="Google Shape;9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 arquitetura tem quatro camadas: a coleta e importacao dos dados da CMED, a persistencia em PostgreSQL, a API REST em FastAPI e o frontend em React.</a:t>
            </a:r>
            <a:endParaRPr/>
          </a:p>
        </p:txBody>
      </p:sp>
      <p:sp>
        <p:nvSpPr>
          <p:cNvPr id="103" name="Google Shape;10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 modelo de dados central tem duas entidades: Medicamento, com os campos da tabela da CMED, e HistoricoPreco, com uma relacao um para muitos entre elas.</a:t>
            </a:r>
            <a:endParaRPr/>
          </a:p>
        </p:txBody>
      </p:sp>
      <p:sp>
        <p:nvSpPr>
          <p:cNvPr id="112" name="Google Shape;11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 pipeline importa quase 25 mil e quatrocentos medicamentos da planilha oficial, mapeando 74 colunas e calculando o PMC para as 27 unidades federativas.</a:t>
            </a:r>
            <a:endParaRPr/>
          </a:p>
        </p:txBody>
      </p:sp>
      <p:sp>
        <p:nvSpPr>
          <p:cNvPr id="121" name="Google Shape;12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 API tem seis rotas documentadas automaticamente pelo Swagger: busca, detalhe, historico, insercao de preco, comparacao com o PMC e listagem de equivalentes.</a:t>
            </a:r>
            <a:endParaRPr/>
          </a:p>
        </p:txBody>
      </p:sp>
      <p:sp>
        <p:nvSpPr>
          <p:cNvPr id="141" name="Google Shape;14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Esta é a aplicação publicada na Vercel, com o endereço no slide e o código-fonte aberto no GitHub. Se for fazer a demonstração ao vivo, abrir o site antes da defesa para a API responder rápido.</a:t>
            </a:r>
            <a:endParaRPr/>
          </a:p>
        </p:txBody>
      </p:sp>
      <p:sp>
        <p:nvSpPr>
          <p:cNvPr id="178" name="Google Shape;17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 backend tem 71 por cento de cobertura de testes, com 39 testes automatizados. Os unicos modulos sem cobertura sao dois scripts de linha de comando, executados manualmente.</a:t>
            </a:r>
            <a:endParaRPr/>
          </a:p>
        </p:txBody>
      </p:sp>
      <p:sp>
        <p:nvSpPr>
          <p:cNvPr id="201" name="Google Shape;20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Para concluir, a contribuicao principal e mostrar que o modelo conceitual do TCC 1 e tecnicamente viavel. As limitacoes ficam registradas com transparencia. Obrigado, fico a disposicao para perguntas.</a:t>
            </a:r>
            <a:endParaRPr/>
          </a:p>
        </p:txBody>
      </p:sp>
      <p:sp>
        <p:nvSpPr>
          <p:cNvPr id="212" name="Google Shape;21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Tela de resultados da busca. O PMC mostrado é o da UF selecionada, calculado pela coluna de ICMS correspondente.</a:t>
            </a:r>
            <a:endParaRPr/>
          </a:p>
        </p:txBody>
      </p:sp>
      <p:sp>
        <p:nvSpPr>
          <p:cNvPr id="103" name="Google Shape;10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Tela de maior densidade de informação: reúne PMC, preços coletados, comparação em valor e percentual e a lista de equivalentes. Os preços são dados de demonstração.</a:t>
            </a:r>
            <a:endParaRPr/>
          </a:p>
        </p:txBody>
      </p:sp>
      <p:sp>
        <p:nvSpPr>
          <p:cNvPr id="103" name="Google Shape;10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 gráfico mostra a evolução dos preços registrados com a linha do PMC. Como cada registro guarda o PMC da data da coleta, dá para distinguir variação de preço de variação do teto. Dados de demonstração.</a:t>
            </a:r>
            <a:endParaRPr/>
          </a:p>
        </p:txBody>
      </p:sp>
      <p:sp>
        <p:nvSpPr>
          <p:cNvPr id="103" name="Google Shape;10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Configurações ficam no navegador, sem cadastro. CEP e raio são apenas armazenados; a geolocalização é um trabalho futuro. As páginas Como Funciona e Sobre são informativas.</a:t>
            </a:r>
            <a:endParaRPr/>
          </a:p>
        </p:txBody>
      </p:sp>
      <p:sp>
        <p:nvSpPr>
          <p:cNvPr id="103" name="Google Shape;10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 artigo do TCC I foi publicado nos anais do TOI 2026, disponíveis no Doity e no Zenodo, e o trabalho também foi aceito no CNEG 2026, onde será apresentado em 22/10/2026.</a:t>
            </a:r>
            <a:endParaRPr/>
          </a:p>
        </p:txBody>
      </p:sp>
      <p:sp>
        <p:nvSpPr>
          <p:cNvPr id="103" name="Google Shape;10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Referências em ABNT (NBR 6023), em ordem alfabética. Slide de consulta, não precisa ser apresentado.</a:t>
            </a:r>
            <a:endParaRPr/>
          </a:p>
        </p:txBody>
      </p:sp>
      <p:sp>
        <p:nvSpPr>
          <p:cNvPr id="103" name="Google Shape;10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Referências em ABNT (NBR 6023), em ordem alfabética. Slide de consulta, não precisa ser apresentado.</a:t>
            </a:r>
            <a:endParaRPr/>
          </a:p>
        </p:txBody>
      </p:sp>
      <p:sp>
        <p:nvSpPr>
          <p:cNvPr id="103" name="Google Shape;10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arquitetura_fig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tela_home.png"/><Relationship Id="rId4" Type="http://schemas.openxmlformats.org/officeDocument/2006/relationships/hyperlink" Target="https://pharmaprice.vercel.app/" TargetMode="External"/><Relationship Id="rId5" Type="http://schemas.openxmlformats.org/officeDocument/2006/relationships/hyperlink" Target="https://github.com/bernardooduarte/pharmaprice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tela_resultados.png"/><Relationship Id="rId90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tela_detalhes.png"/><Relationship Id="rId90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tela_grafico.png"/><Relationship Id="rId90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tela_configuracoes.png"/><Relationship Id="rId90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hyperlink" Target="https://doity.com.br/anais/toi2026/trabalho/521740" TargetMode="External"/><Relationship Id="rId4" Type="http://schemas.openxmlformats.org/officeDocument/2006/relationships/hyperlink" Target="https://zenodo.org/records/23099458" TargetMode="External"/><Relationship Id="rId90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90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90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809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9418320" y="-1463040"/>
            <a:ext cx="4572000" cy="4572000"/>
          </a:xfrm>
          <a:prstGeom prst="ellipse">
            <a:avLst/>
          </a:prstGeom>
          <a:solidFill>
            <a:srgbClr val="00A896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-1463040" y="4754880"/>
            <a:ext cx="3657600" cy="3657600"/>
          </a:xfrm>
          <a:prstGeom prst="ellipse">
            <a:avLst/>
          </a:prstGeom>
          <a:solidFill>
            <a:srgbClr val="02C39A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TRABALHO DE CONCLUSÃO DE CURSO II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77240" y="1874520"/>
            <a:ext cx="10515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mbria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PharmaPrice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22960" y="3063240"/>
            <a:ext cx="9875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9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7FAF9"/>
                </a:solidFill>
                <a:latin typeface="Calibri"/>
                <a:ea typeface="Calibri"/>
                <a:cs typeface="Calibri"/>
                <a:sym typeface="Calibri"/>
              </a:rPr>
              <a:t>Implementação de um protótipo web para comparação de preços de medicamentos com dados CMED/PMC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1"/>
          <p:cNvCxnSpPr/>
          <p:nvPr/>
        </p:nvCxnSpPr>
        <p:spPr>
          <a:xfrm>
            <a:off x="822960" y="4114800"/>
            <a:ext cx="2743200" cy="0"/>
          </a:xfrm>
          <a:prstGeom prst="straightConnector1">
            <a:avLst/>
          </a:prstGeom>
          <a:noFill/>
          <a:ln cap="flat" cmpd="sng" w="254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1"/>
          <p:cNvSpPr/>
          <p:nvPr/>
        </p:nvSpPr>
        <p:spPr>
          <a:xfrm>
            <a:off x="822960" y="4389120"/>
            <a:ext cx="8229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Bernardo Oliveira Duarte</a:t>
            </a:r>
            <a:b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F7FAF9"/>
                </a:solidFill>
                <a:latin typeface="Calibri"/>
                <a:ea typeface="Calibri"/>
                <a:cs typeface="Calibri"/>
                <a:sym typeface="Calibri"/>
              </a:rPr>
              <a:t>Orientador: Prof. Emerson Augusto Priamo Moraes</a:t>
            </a:r>
            <a:br>
              <a:rPr b="0" i="0" lang="en-US" sz="1400" u="none" cap="none" strike="noStrike">
                <a:solidFill>
                  <a:srgbClr val="F7FAF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F7FAF9"/>
                </a:solidFill>
                <a:latin typeface="Calibri"/>
                <a:ea typeface="Calibri"/>
                <a:cs typeface="Calibri"/>
                <a:sym typeface="Calibri"/>
              </a:rPr>
              <a:t>Bacharelado em Sistemas de Informação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F7FAF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7FAF9"/>
                </a:solidFill>
                <a:latin typeface="Calibri"/>
                <a:ea typeface="Calibri"/>
                <a:cs typeface="Calibri"/>
                <a:sym typeface="Calibri"/>
              </a:rPr>
              <a:t>Instituto Federal do Sudeste de Minas Gerais, Campus Juiz de Fora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F7FAF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7FAF9"/>
                </a:solidFill>
                <a:latin typeface="Calibri"/>
                <a:ea typeface="Calibri"/>
                <a:cs typeface="Calibri"/>
                <a:sym typeface="Calibri"/>
              </a:rPr>
              <a:t>Juiz de Fora, MG, 2026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23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68885" y="4114788"/>
            <a:ext cx="1323975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9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24292E"/>
                </a:solidFill>
                <a:latin typeface="Cambria"/>
                <a:ea typeface="Cambria"/>
                <a:cs typeface="Cambria"/>
                <a:sym typeface="Cambria"/>
              </a:rPr>
              <a:t>O problema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48640" y="1463040"/>
            <a:ext cx="5212080" cy="4480560"/>
          </a:xfrm>
          <a:prstGeom prst="roundRect">
            <a:avLst>
              <a:gd fmla="val 2449" name="adj"/>
            </a:avLst>
          </a:prstGeom>
          <a:solidFill>
            <a:srgbClr val="FFFFFF"/>
          </a:solidFill>
          <a:ln cap="flat" cmpd="sng" w="12700">
            <a:solidFill>
              <a:srgbClr val="E3E8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914400" y="182880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914400" y="1828800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600200" y="178308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Preço regulado, mas invisível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914400" y="2331720"/>
            <a:ext cx="44805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A CMED define o Preço Máximo ao Consumidor (PMC) para todo medicamento vendido no país. Esse teto regulatório quase nunca chega ao consumidor no momento da compra.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914400" y="4023360"/>
            <a:ext cx="502920" cy="50292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914400" y="4023360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600200" y="397764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Variação entre farmácias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914400" y="4526280"/>
            <a:ext cx="44805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O mesmo princípio ativo pode custar valores bem diferentes entre estabelecimentos e entre as categorias referência, similar e genérico.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126480" y="1463040"/>
            <a:ext cx="5486400" cy="4480560"/>
          </a:xfrm>
          <a:prstGeom prst="roundRect">
            <a:avLst>
              <a:gd fmla="val 2449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492240" y="182880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Pergunta de pesquisa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492240" y="2377440"/>
            <a:ext cx="47548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0" i="1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Como tornar o PMC da CMED visível e compreensível ao consumidor no momento da decisão de compra, de forma tecnicamente viável?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492240" y="5212080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9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7FAF9"/>
                </a:solidFill>
                <a:latin typeface="Calibri"/>
                <a:ea typeface="Calibri"/>
                <a:cs typeface="Calibri"/>
                <a:sym typeface="Calibri"/>
              </a:rPr>
              <a:t>Fonte: SOUZA; PARANHOS; HASENCLEVER, 2021; MELO; SANTANA; GALATO, 2024.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5A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9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24292E"/>
                </a:solidFill>
                <a:latin typeface="Cambria"/>
                <a:ea typeface="Cambria"/>
                <a:cs typeface="Cambria"/>
                <a:sym typeface="Cambria"/>
              </a:rPr>
              <a:t>Plataformas existentes não resolvem isso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" name="Google Shape;50;p3"/>
          <p:cNvGraphicFramePr/>
          <p:nvPr/>
        </p:nvGraphicFramePr>
        <p:xfrm>
          <a:off x="548640" y="1645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{4CB32090-3C25-4073-ABD7-ADC7C44AA47A}</a:tableStyleId>
              </a:tblPr>
              <a:tblGrid>
                <a:gridCol w="3291850"/>
                <a:gridCol w="3840475"/>
                <a:gridCol w="3931925"/>
              </a:tblGrid>
              <a:tr h="74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50"/>
                        <a:buFont typeface="Calibri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Critério</a:t>
                      </a:r>
                      <a:endParaRPr sz="14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50"/>
                        <a:buFont typeface="Calibri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Consulta Remédios / CliqueFarma</a:t>
                      </a:r>
                      <a:endParaRPr sz="14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50"/>
                        <a:buFont typeface="Calibri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PharmaPrice</a:t>
                      </a:r>
                      <a:endParaRPr sz="14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</a:tr>
              <a:tr h="74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29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429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Integração explícita do PMC/CMED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29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429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Não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29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429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4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29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429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PMC dinâmico por UF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29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429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Não se aplica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29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429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Sim, nas 27 unidades federativas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4"/>
                    </a:solidFill>
                  </a:tcPr>
                </a:tc>
              </a:tr>
              <a:tr h="74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29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429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Modelo de negócio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29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429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Publicidade e parcerias comerciais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29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429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Projeto acadêmico, sem fins comerciais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4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29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429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Código-fonte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29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429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Fechado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29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429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Aberto (licença MIT)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4"/>
                    </a:solidFill>
                  </a:tcPr>
                </a:tc>
              </a:tr>
            </a:tbl>
          </a:graphicData>
        </a:graphic>
      </p:graphicFrame>
      <p:sp>
        <p:nvSpPr>
          <p:cNvPr id="51" name="Google Shape;51;p3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5A3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Titulo da figura"/>
          <p:cNvSpPr txBox="1"/>
          <p:nvPr/>
        </p:nvSpPr>
        <p:spPr>
          <a:xfrm>
            <a:off x="548640" y="128016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18288" rIns="0" bIns="18288" anchor="b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Quadro 1 – Comparação entre as plataformas comerciais e o PharmaPrice</a:t>
            </a:r>
          </a:p>
        </p:txBody>
      </p:sp>
      <p:sp>
        <p:nvSpPr>
          <p:cNvPr id="402" name="Fonte"/>
          <p:cNvSpPr txBox="1"/>
          <p:nvPr/>
        </p:nvSpPr>
        <p:spPr>
          <a:xfrm>
            <a:off x="548640" y="543736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18288" rIns="0" bIns="18288" anchor="t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i="0" u="none" dirty="0">
                <a:solidFill>
                  <a:srgbClr val="5A6664"/>
                </a:solidFill>
                <a:latin typeface="Calibri"/>
                <a:ea typeface="Calibri"/>
                <a:cs typeface="Calibri"/>
                <a:sym typeface="Calibri"/>
              </a:rPr>
              <a:t>Fonte: Elaborado pelo autor (2026).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i="0" u="none" dirty="0">
                <a:solidFill>
                  <a:srgbClr val="5A6664"/>
                </a:solidFill>
                <a:latin typeface="Calibri"/>
                <a:ea typeface="Calibri"/>
                <a:cs typeface="Calibri"/>
                <a:sym typeface="Calibri"/>
              </a:rPr>
              <a:t>Nota: observação restrita ao recorte analisado no TCC I (2026), sem pretensão de auditar as plataformas.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9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24292E"/>
                </a:solidFill>
                <a:latin typeface="Cambria"/>
                <a:ea typeface="Cambria"/>
                <a:cs typeface="Cambria"/>
                <a:sym typeface="Cambria"/>
              </a:rPr>
              <a:t>Do modelo conceitual à implementação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548640" y="1645920"/>
            <a:ext cx="5212080" cy="4114800"/>
          </a:xfrm>
          <a:prstGeom prst="roundRect">
            <a:avLst>
              <a:gd fmla="val 2667" name="adj"/>
            </a:avLst>
          </a:prstGeom>
          <a:solidFill>
            <a:srgbClr val="F7FAF9"/>
          </a:solidFill>
          <a:ln cap="flat" cmpd="sng" w="1905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914400" y="1920240"/>
            <a:ext cx="4480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028090"/>
                </a:solidFill>
                <a:latin typeface="Cambria"/>
                <a:ea typeface="Cambria"/>
                <a:cs typeface="Cambria"/>
                <a:sym typeface="Cambria"/>
              </a:rPr>
              <a:t>TCC I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914400" y="2514600"/>
            <a:ext cx="448056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Modelo conceitual do PharmaPrice</a:t>
            </a:r>
            <a:br>
              <a:rPr b="1" i="0" lang="en-US" sz="1500" u="none" cap="none" strike="noStrike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Publicado nos anais do XII Congresso Internacional em Tecnologia e Organização da Informação (TOI 2026)</a:t>
            </a:r>
            <a:br>
              <a:rPr b="0" i="0" lang="en-US" sz="1500" u="none" cap="none" strike="noStrike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500" u="none" cap="none" strike="noStrike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500" u="none" cap="none" strike="noStrike">
                <a:solidFill>
                  <a:srgbClr val="5A6664"/>
                </a:solidFill>
                <a:latin typeface="Calibri"/>
                <a:ea typeface="Calibri"/>
                <a:cs typeface="Calibri"/>
                <a:sym typeface="Calibri"/>
              </a:rPr>
              <a:t>Previa também: recomendação por IA, geolocalização, convênios de desconto e scraping automatizado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 rot="5400000">
            <a:off x="5867400" y="3474725"/>
            <a:ext cx="457200" cy="457200"/>
          </a:xfrm>
          <a:prstGeom prst="triangle">
            <a:avLst>
              <a:gd fmla="val 50000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6400800" y="1645920"/>
            <a:ext cx="5212080" cy="4114800"/>
          </a:xfrm>
          <a:prstGeom prst="roundRect">
            <a:avLst>
              <a:gd fmla="val 2667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6766560" y="1920240"/>
            <a:ext cx="4480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TCC II (este trabalho)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6766560" y="2514600"/>
            <a:ext cx="448056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Protótipo funcional implementado</a:t>
            </a:r>
            <a:b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F7FAF9"/>
                </a:solidFill>
                <a:latin typeface="Calibri"/>
                <a:ea typeface="Calibri"/>
                <a:cs typeface="Calibri"/>
                <a:sym typeface="Calibri"/>
              </a:rPr>
              <a:t>Pipeline CMED, API REST documentada e frontend web com o fluxo principal de uso</a:t>
            </a:r>
            <a:br>
              <a:rPr b="0" i="0" lang="en-US" sz="1500" u="none" cap="none" strike="noStrike">
                <a:solidFill>
                  <a:srgbClr val="F7FAF9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500" u="none" cap="none" strike="noStrike">
                <a:solidFill>
                  <a:srgbClr val="F7FAF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500" u="none" cap="none" strike="noStrike">
                <a:solidFill>
                  <a:srgbClr val="F7FAF9"/>
                </a:solidFill>
                <a:latin typeface="Calibri"/>
                <a:ea typeface="Calibri"/>
                <a:cs typeface="Calibri"/>
                <a:sym typeface="Calibri"/>
              </a:rPr>
              <a:t>Escopo delimitado formalmente com o orientador antes do desenvolvimento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5A3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9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24292E"/>
                </a:solidFill>
                <a:latin typeface="Cambria"/>
                <a:ea typeface="Cambria"/>
                <a:cs typeface="Cambria"/>
                <a:sym typeface="Cambria"/>
              </a:rPr>
              <a:t>Objetivo geral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1097280" y="1828800"/>
            <a:ext cx="9966960" cy="1463040"/>
          </a:xfrm>
          <a:prstGeom prst="roundRect">
            <a:avLst>
              <a:gd fmla="val 7500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1463040" y="1920240"/>
            <a:ext cx="92354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0" i="1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Implementar e avaliar tecnicamente um protótipo funcional do PharmaPrice, validando a viabilidade do modelo conceitual proposto no TCC I.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645935" y="3749040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645935" y="3749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502920" y="4343400"/>
            <a:ext cx="2743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Pipeline de importação da tabela CMED/PMC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434855" y="3749040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434855" y="3749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3291840" y="4343400"/>
            <a:ext cx="2743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API REST: busca, histórico e comparação de preços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7223775" y="3749040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7223775" y="3749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6080760" y="4343400"/>
            <a:ext cx="2743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Frontend web com o fluxo principal de uso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10012695" y="3749040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10012695" y="3749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8869680" y="4343400"/>
            <a:ext cx="2743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Verificação de qualidade por testes automatizados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5A3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9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24292E"/>
                </a:solidFill>
                <a:latin typeface="Cambria"/>
                <a:ea typeface="Cambria"/>
                <a:cs typeface="Cambria"/>
                <a:sym typeface="Cambria"/>
              </a:rPr>
              <a:t>Escopo: o que entrou e o que ficou de fora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548640" y="1554480"/>
            <a:ext cx="5394960" cy="4297680"/>
          </a:xfrm>
          <a:prstGeom prst="roundRect">
            <a:avLst>
              <a:gd fmla="val 2553" name="adj"/>
            </a:avLst>
          </a:prstGeom>
          <a:solidFill>
            <a:srgbClr val="EAF6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914400" y="17830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Implementado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914400" y="2286000"/>
            <a:ext cx="475488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E58"/>
              </a:buClr>
              <a:buSzPts val="1400"/>
              <a:buFont typeface="Calibri"/>
              <a:buChar char="✓"/>
            </a:pPr>
            <a:r>
              <a:rPr b="0" i="0" lang="en-US" sz="1400" u="none" cap="none" strike="noStrike">
                <a:solidFill>
                  <a:srgbClr val="1B5E58"/>
                </a:solidFill>
                <a:latin typeface="Calibri"/>
                <a:ea typeface="Calibri"/>
                <a:cs typeface="Calibri"/>
                <a:sym typeface="Calibri"/>
              </a:rPr>
              <a:t>Pipeline de importação CMED/PMC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B5E58"/>
              </a:buClr>
              <a:buSzPts val="1400"/>
              <a:buFont typeface="Calibri"/>
              <a:buChar char="✓"/>
            </a:pPr>
            <a:r>
              <a:rPr b="0" i="0" lang="en-US" sz="1400" u="none" cap="none" strike="noStrike">
                <a:solidFill>
                  <a:srgbClr val="1B5E58"/>
                </a:solidFill>
                <a:latin typeface="Calibri"/>
                <a:ea typeface="Calibri"/>
                <a:cs typeface="Calibri"/>
                <a:sym typeface="Calibri"/>
              </a:rPr>
              <a:t>Busca fuzzy por nome ou princípio ativo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B5E58"/>
              </a:buClr>
              <a:buSzPts val="1400"/>
              <a:buFont typeface="Calibri"/>
              <a:buChar char="✓"/>
            </a:pPr>
            <a:r>
              <a:rPr b="0" i="0" lang="en-US" sz="1400" u="none" cap="none" strike="noStrike">
                <a:solidFill>
                  <a:srgbClr val="1B5E58"/>
                </a:solidFill>
                <a:latin typeface="Calibri"/>
                <a:ea typeface="Calibri"/>
                <a:cs typeface="Calibri"/>
                <a:sym typeface="Calibri"/>
              </a:rPr>
              <a:t>PMC dinâmico nas 27 UFs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B5E58"/>
              </a:buClr>
              <a:buSzPts val="1400"/>
              <a:buFont typeface="Calibri"/>
              <a:buChar char="✓"/>
            </a:pPr>
            <a:r>
              <a:rPr b="0" i="0" lang="en-US" sz="1400" u="none" cap="none" strike="noStrike">
                <a:solidFill>
                  <a:srgbClr val="1B5E58"/>
                </a:solidFill>
                <a:latin typeface="Calibri"/>
                <a:ea typeface="Calibri"/>
                <a:cs typeface="Calibri"/>
                <a:sym typeface="Calibri"/>
              </a:rPr>
              <a:t>Histórico e comparação de preços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B5E58"/>
              </a:buClr>
              <a:buSzPts val="1400"/>
              <a:buFont typeface="Calibri"/>
              <a:buChar char="✓"/>
            </a:pPr>
            <a:r>
              <a:rPr b="0" i="0" lang="en-US" sz="1400" u="none" cap="none" strike="noStrike">
                <a:solidFill>
                  <a:srgbClr val="1B5E58"/>
                </a:solidFill>
                <a:latin typeface="Calibri"/>
                <a:ea typeface="Calibri"/>
                <a:cs typeface="Calibri"/>
                <a:sym typeface="Calibri"/>
              </a:rPr>
              <a:t>API REST documentada (Swagger)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B5E58"/>
              </a:buClr>
              <a:buSzPts val="1400"/>
              <a:buFont typeface="Calibri"/>
              <a:buChar char="✓"/>
            </a:pPr>
            <a:r>
              <a:rPr b="0" i="0" lang="en-US" sz="1400" u="none" cap="none" strike="noStrike">
                <a:solidFill>
                  <a:srgbClr val="1B5E58"/>
                </a:solidFill>
                <a:latin typeface="Calibri"/>
                <a:ea typeface="Calibri"/>
                <a:cs typeface="Calibri"/>
                <a:sym typeface="Calibri"/>
              </a:rPr>
              <a:t>Frontend com 7 telas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B5E58"/>
              </a:buClr>
              <a:buSzPts val="1400"/>
              <a:buFont typeface="Calibri"/>
              <a:buChar char="✓"/>
            </a:pPr>
            <a:r>
              <a:rPr b="0" i="0" lang="en-US" sz="1400" u="none" cap="none" strike="noStrike">
                <a:solidFill>
                  <a:srgbClr val="1B5E58"/>
                </a:solidFill>
                <a:latin typeface="Calibri"/>
                <a:ea typeface="Calibri"/>
                <a:cs typeface="Calibri"/>
                <a:sym typeface="Calibri"/>
              </a:rPr>
              <a:t>Testes automatizados (71% de cobertura)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6263640" y="1554480"/>
            <a:ext cx="5394960" cy="4297680"/>
          </a:xfrm>
          <a:prstGeom prst="roundRect">
            <a:avLst>
              <a:gd fmla="val 2553" name="adj"/>
            </a:avLst>
          </a:prstGeom>
          <a:solidFill>
            <a:srgbClr val="FB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6629400" y="17830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3A48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B23A48"/>
                </a:solidFill>
                <a:latin typeface="Calibri"/>
                <a:ea typeface="Calibri"/>
                <a:cs typeface="Calibri"/>
                <a:sym typeface="Calibri"/>
              </a:rPr>
              <a:t>Trabalhos futuros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6629400" y="2286000"/>
            <a:ext cx="475488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2E39"/>
              </a:buClr>
              <a:buSzPts val="1400"/>
              <a:buFont typeface="Calibri"/>
              <a:buChar char="✗"/>
            </a:pPr>
            <a:r>
              <a:rPr b="0" i="0" lang="en-US" sz="1400" u="none" cap="none" strike="noStrike">
                <a:solidFill>
                  <a:srgbClr val="8C2E39"/>
                </a:solidFill>
                <a:latin typeface="Calibri"/>
                <a:ea typeface="Calibri"/>
                <a:cs typeface="Calibri"/>
                <a:sym typeface="Calibri"/>
              </a:rPr>
              <a:t>Coleta automatizada de preços (scraping)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8C2E39"/>
              </a:buClr>
              <a:buSzPts val="1400"/>
              <a:buFont typeface="Calibri"/>
              <a:buChar char="✗"/>
            </a:pPr>
            <a:r>
              <a:rPr b="0" i="0" lang="en-US" sz="1400" u="none" cap="none" strike="noStrike">
                <a:solidFill>
                  <a:srgbClr val="8C2E39"/>
                </a:solidFill>
                <a:latin typeface="Calibri"/>
                <a:ea typeface="Calibri"/>
                <a:cs typeface="Calibri"/>
                <a:sym typeface="Calibri"/>
              </a:rPr>
              <a:t>Recomendação por inteligência artificial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8C2E39"/>
              </a:buClr>
              <a:buSzPts val="1400"/>
              <a:buFont typeface="Calibri"/>
              <a:buChar char="✗"/>
            </a:pPr>
            <a:r>
              <a:rPr b="0" i="0" lang="en-US" sz="1400" u="none" cap="none" strike="noStrike">
                <a:solidFill>
                  <a:srgbClr val="8C2E39"/>
                </a:solidFill>
                <a:latin typeface="Calibri"/>
                <a:ea typeface="Calibri"/>
                <a:cs typeface="Calibri"/>
                <a:sym typeface="Calibri"/>
              </a:rPr>
              <a:t>Geolocalização com raio configurável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8C2E39"/>
              </a:buClr>
              <a:buSzPts val="1400"/>
              <a:buFont typeface="Calibri"/>
              <a:buChar char="✗"/>
            </a:pPr>
            <a:r>
              <a:rPr b="0" i="0" lang="en-US" sz="1400" u="none" cap="none" strike="noStrike">
                <a:solidFill>
                  <a:srgbClr val="8C2E39"/>
                </a:solidFill>
                <a:latin typeface="Calibri"/>
                <a:ea typeface="Calibri"/>
                <a:cs typeface="Calibri"/>
                <a:sym typeface="Calibri"/>
              </a:rPr>
              <a:t>Login e cadastro de usuário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8C2E39"/>
              </a:buClr>
              <a:buSzPts val="1400"/>
              <a:buFont typeface="Calibri"/>
              <a:buChar char="✗"/>
            </a:pPr>
            <a:r>
              <a:rPr b="0" i="0" lang="en-US" sz="1400" u="none" cap="none" strike="noStrike">
                <a:solidFill>
                  <a:srgbClr val="8C2E39"/>
                </a:solidFill>
                <a:latin typeface="Calibri"/>
                <a:ea typeface="Calibri"/>
                <a:cs typeface="Calibri"/>
                <a:sym typeface="Calibri"/>
              </a:rPr>
              <a:t>Convênios de desconto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5A3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9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Titulo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i="0" u="none" dirty="0">
                <a:solidFill>
                  <a:srgbClr val="24292E"/>
                </a:solidFill>
                <a:latin typeface="Cambria"/>
                <a:ea typeface="Cambria"/>
                <a:cs typeface="Cambria"/>
                <a:sym typeface="Cambria"/>
              </a:rPr>
              <a:t>Arquitetura geral do sistema</a:t>
            </a:r>
          </a:p>
        </p:txBody>
      </p:sp>
      <p:sp>
        <p:nvSpPr>
          <p:cNvPr id="302" name="Titulo da figura"/>
          <p:cNvSpPr txBox="1"/>
          <p:nvPr/>
        </p:nvSpPr>
        <p:spPr>
          <a:xfrm>
            <a:off x="548640" y="1115568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18288" rIns="0" bIns="18288" anchor="b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Figura 1 – Arquitetura geral do protótipo, da planilha da CMED ao consumidor</a:t>
            </a:r>
          </a:p>
        </p:txBody>
      </p:sp>
      <p:sp>
        <p:nvSpPr>
          <p:cNvPr id="303" name="Moldura da imagem"/>
          <p:cNvSpPr/>
          <p:nvPr/>
        </p:nvSpPr>
        <p:spPr>
          <a:xfrm>
            <a:off x="548640" y="1481328"/>
            <a:ext cx="6637607" cy="440740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7E1DF"/>
            </a:solidFill>
          </a:ln>
          <a:effectLst>
            <a:outerShdw blurRad="76200" rotWithShape="0" algn="bl" dir="5400000" dist="25400">
              <a:srgbClr val="1A2E2C">
                <a:alpha val="18039"/>
              </a:srgbClr>
            </a:outerShdw>
          </a:effectLst>
        </p:spPr>
        <p:txBody>
          <a:bodyPr wrap="square" lIns="182880" tIns="137160" rIns="182880" bIns="137160" anchor="ctr" anchorCtr="0">
            <a:noAutofit/>
          </a:bodyPr>
          <a:lstStyle/>
          <a:p>
            <a:endParaRPr lang="pt-BR" sz="1400"/>
          </a:p>
        </p:txBody>
      </p:sp>
      <p:pic>
        <p:nvPicPr>
          <p:cNvPr id="304" name="Imagem" descr="Arquitetura geral do PharmaPrice, da planilha da CMED ao consumidor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603504" y="1536192"/>
            <a:ext cx="6527879" cy="429768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Fonte"/>
          <p:cNvSpPr txBox="1"/>
          <p:nvPr/>
        </p:nvSpPr>
        <p:spPr>
          <a:xfrm>
            <a:off x="548640" y="5934456"/>
            <a:ext cx="7498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18288" rIns="0" bIns="18288" anchor="t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i="0" u="none" dirty="0">
                <a:solidFill>
                  <a:srgbClr val="5A6664"/>
                </a:solidFill>
                <a:latin typeface="Calibri"/>
                <a:ea typeface="Calibri"/>
                <a:cs typeface="Calibri"/>
                <a:sym typeface="Calibri"/>
              </a:rPr>
              <a:t>Fonte: Elaborado pelo autor (2026).</a:t>
            </a:r>
          </a:p>
        </p:txBody>
      </p:sp>
      <p:sp>
        <p:nvSpPr>
          <p:cNvPr id="306" name="Painel de descricao"/>
          <p:cNvSpPr/>
          <p:nvPr/>
        </p:nvSpPr>
        <p:spPr>
          <a:xfrm>
            <a:off x="7460567" y="1481328"/>
            <a:ext cx="4179745" cy="440740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7E1DF"/>
            </a:solidFill>
          </a:ln>
          <a:effectLst>
            <a:outerShdw blurRad="76200" rotWithShape="0" algn="bl" dir="5400000" dist="25400">
              <a:srgbClr val="1A2E2C">
                <a:alpha val="18039"/>
              </a:srgbClr>
            </a:outerShdw>
          </a:effectLst>
        </p:spPr>
        <p:txBody>
          <a:bodyPr wrap="square" lIns="228600" tIns="201168" rIns="182880" bIns="137160" anchor="t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600" b="1" i="0" u="none" dirty="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Quatro camadas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28090"/>
              </a:buClr>
              <a:buSzPts val="1400"/>
              <a:buFont typeface="Arial"/>
              <a:buChar char="•"/>
            </a:pPr>
            <a:r>
              <a:rPr lang="pt-BR" sz="1400" b="1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Importação: </a:t>
            </a:r>
            <a:r>
              <a:rPr lang="pt-BR" sz="14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planilha pública da CMED lida com openpyxl e gravada por upsert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28090"/>
              </a:buClr>
              <a:buSzPts val="1400"/>
              <a:buFont typeface="Arial"/>
              <a:buChar char="•"/>
            </a:pPr>
            <a:r>
              <a:rPr lang="pt-BR" sz="1400" b="1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Banco: </a:t>
            </a:r>
            <a:r>
              <a:rPr lang="pt-BR" sz="14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PostgreSQL 16 com a extensão pg_trgm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28090"/>
              </a:buClr>
              <a:buSzPts val="1400"/>
              <a:buFont typeface="Arial"/>
              <a:buChar char="•"/>
            </a:pPr>
            <a:r>
              <a:rPr lang="pt-BR" sz="1400" b="1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API REST: </a:t>
            </a:r>
            <a:r>
              <a:rPr lang="pt-BR" sz="14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FastAPI, 6 rotas e Swagger/OpenAPI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28090"/>
              </a:buClr>
              <a:buSzPts val="1400"/>
              <a:buFont typeface="Arial"/>
              <a:buChar char="•"/>
            </a:pPr>
            <a:r>
              <a:rPr lang="pt-BR" sz="1400" b="1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Frontend: </a:t>
            </a:r>
            <a:r>
              <a:rPr lang="pt-BR" sz="14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React, TypeScript e Vite; histórico e preferências ficam só no navegador</a:t>
            </a:r>
          </a:p>
        </p:txBody>
      </p:sp>
      <p:sp>
        <p:nvSpPr>
          <p:cNvPr id="307" name="Numero do slide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i="0" u="none" dirty="0">
                <a:solidFill>
                  <a:srgbClr val="9AA5A3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9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24292E"/>
                </a:solidFill>
                <a:latin typeface="Cambria"/>
                <a:ea typeface="Cambria"/>
                <a:cs typeface="Cambria"/>
                <a:sym typeface="Cambria"/>
              </a:rPr>
              <a:t>Modelo de dados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5A3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Titulo da figura"/>
          <p:cNvSpPr txBox="1"/>
          <p:nvPr/>
        </p:nvSpPr>
        <p:spPr>
          <a:xfrm>
            <a:off x="2565610" y="1115568"/>
            <a:ext cx="7060474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18288" rIns="0" bIns="18288" anchor="b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Figura 2 – Diagrama de classes das entidades Medicamento e HistoricoPreco</a:t>
            </a:r>
          </a:p>
        </p:txBody>
      </p:sp>
      <p:pic>
        <p:nvPicPr>
          <p:cNvPr id="402" name="Imagem" descr="Diagrama de classes: Medicamento e HistoricoPreco, relação 1 para N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2565610" y="1481328"/>
            <a:ext cx="7060474" cy="429768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Fonte"/>
          <p:cNvSpPr txBox="1"/>
          <p:nvPr/>
        </p:nvSpPr>
        <p:spPr>
          <a:xfrm>
            <a:off x="2565610" y="5824728"/>
            <a:ext cx="706047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18288" rIns="0" bIns="18288" anchor="t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i="0" u="none" dirty="0">
                <a:solidFill>
                  <a:srgbClr val="5A6664"/>
                </a:solidFill>
                <a:latin typeface="Calibri"/>
                <a:ea typeface="Calibri"/>
                <a:cs typeface="Calibri"/>
                <a:sym typeface="Calibri"/>
              </a:rPr>
              <a:t>Fonte: Elaborado pelo autor, a partir do código-fonte (2026).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9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24292E"/>
                </a:solidFill>
                <a:latin typeface="Cambria"/>
                <a:ea typeface="Cambria"/>
                <a:cs typeface="Cambria"/>
                <a:sym typeface="Cambria"/>
              </a:rPr>
              <a:t>Pipeline de importação CMED em números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9"/>
          <p:cNvSpPr/>
          <p:nvPr/>
        </p:nvSpPr>
        <p:spPr>
          <a:xfrm>
            <a:off x="822960" y="2011680"/>
            <a:ext cx="2514600" cy="2377440"/>
          </a:xfrm>
          <a:prstGeom prst="roundRect">
            <a:avLst>
              <a:gd fmla="val 4615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822960" y="2194560"/>
            <a:ext cx="2514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25.392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1005840" y="3337560"/>
            <a:ext cx="2148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medicamentos importados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3520440" y="2011680"/>
            <a:ext cx="2514600" cy="2377440"/>
          </a:xfrm>
          <a:prstGeom prst="roundRect">
            <a:avLst>
              <a:gd fmla="val 4615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3520440" y="2194560"/>
            <a:ext cx="2514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74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3703320" y="3337560"/>
            <a:ext cx="2148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colunas mapeadas da planilha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6217920" y="2011680"/>
            <a:ext cx="2514600" cy="2377440"/>
          </a:xfrm>
          <a:prstGeom prst="roundRect">
            <a:avLst>
              <a:gd fmla="val 4615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6217920" y="2194560"/>
            <a:ext cx="2514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27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6400800" y="3337560"/>
            <a:ext cx="2148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unidades federativas com PMC calculado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8915400" y="2011680"/>
            <a:ext cx="2514600" cy="2377440"/>
          </a:xfrm>
          <a:prstGeom prst="roundRect">
            <a:avLst>
              <a:gd fmla="val 4615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8915400" y="2194560"/>
            <a:ext cx="2514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9098280" y="3337560"/>
            <a:ext cx="2148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chave única por código GGREM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822960" y="4846320"/>
            <a:ext cx="10241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Os dados vêm da planilha pública da ANVISA/CMED, lida com openpyxl, e são inseridos no banco por upsert.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5A3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9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24292E"/>
                </a:solidFill>
                <a:latin typeface="Cambria"/>
                <a:ea typeface="Cambria"/>
                <a:cs typeface="Cambria"/>
                <a:sym typeface="Cambria"/>
              </a:rPr>
              <a:t>API REST: 6 endpoints documentados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0"/>
          <p:cNvSpPr/>
          <p:nvPr/>
        </p:nvSpPr>
        <p:spPr>
          <a:xfrm>
            <a:off x="548640" y="1554480"/>
            <a:ext cx="110642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0"/>
          <p:cNvSpPr/>
          <p:nvPr/>
        </p:nvSpPr>
        <p:spPr>
          <a:xfrm>
            <a:off x="685800" y="1682496"/>
            <a:ext cx="777240" cy="429768"/>
          </a:xfrm>
          <a:prstGeom prst="roundRect">
            <a:avLst>
              <a:gd fmla="val 12766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0"/>
          <p:cNvSpPr/>
          <p:nvPr/>
        </p:nvSpPr>
        <p:spPr>
          <a:xfrm>
            <a:off x="685800" y="1682496"/>
            <a:ext cx="77724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0"/>
          <p:cNvSpPr/>
          <p:nvPr/>
        </p:nvSpPr>
        <p:spPr>
          <a:xfrm>
            <a:off x="1645920" y="1554480"/>
            <a:ext cx="502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24292E"/>
                </a:solidFill>
                <a:latin typeface="Courier New"/>
                <a:ea typeface="Courier New"/>
                <a:cs typeface="Courier New"/>
                <a:sym typeface="Courier New"/>
              </a:rPr>
              <a:t>/medicamentos/?q=&amp;uf=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0"/>
          <p:cNvSpPr/>
          <p:nvPr/>
        </p:nvSpPr>
        <p:spPr>
          <a:xfrm>
            <a:off x="6766560" y="1554480"/>
            <a:ext cx="4754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474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E4746"/>
                </a:solidFill>
                <a:latin typeface="Calibri"/>
                <a:ea typeface="Calibri"/>
                <a:cs typeface="Calibri"/>
                <a:sym typeface="Calibri"/>
              </a:rPr>
              <a:t>Busca fuzzy com PMC por UF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0"/>
          <p:cNvSpPr/>
          <p:nvPr/>
        </p:nvSpPr>
        <p:spPr>
          <a:xfrm>
            <a:off x="548640" y="2313432"/>
            <a:ext cx="11064240" cy="685800"/>
          </a:xfrm>
          <a:prstGeom prst="rect">
            <a:avLst/>
          </a:prstGeom>
          <a:solidFill>
            <a:srgbClr val="F0F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0"/>
          <p:cNvSpPr/>
          <p:nvPr/>
        </p:nvSpPr>
        <p:spPr>
          <a:xfrm>
            <a:off x="685800" y="2441448"/>
            <a:ext cx="777240" cy="429768"/>
          </a:xfrm>
          <a:prstGeom prst="roundRect">
            <a:avLst>
              <a:gd fmla="val 12766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685800" y="2441448"/>
            <a:ext cx="77724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1645920" y="2313432"/>
            <a:ext cx="502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24292E"/>
                </a:solidFill>
                <a:latin typeface="Courier New"/>
                <a:ea typeface="Courier New"/>
                <a:cs typeface="Courier New"/>
                <a:sym typeface="Courier New"/>
              </a:rPr>
              <a:t>/medicamentos/{id}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0"/>
          <p:cNvSpPr/>
          <p:nvPr/>
        </p:nvSpPr>
        <p:spPr>
          <a:xfrm>
            <a:off x="6766560" y="2313432"/>
            <a:ext cx="4754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474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E4746"/>
                </a:solidFill>
                <a:latin typeface="Calibri"/>
                <a:ea typeface="Calibri"/>
                <a:cs typeface="Calibri"/>
                <a:sym typeface="Calibri"/>
              </a:rPr>
              <a:t>Detalhe completo do medicamento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548640" y="3072384"/>
            <a:ext cx="110642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685800" y="3200400"/>
            <a:ext cx="777240" cy="429768"/>
          </a:xfrm>
          <a:prstGeom prst="roundRect">
            <a:avLst>
              <a:gd fmla="val 12766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685800" y="3200400"/>
            <a:ext cx="77724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1645920" y="3072384"/>
            <a:ext cx="502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24292E"/>
                </a:solidFill>
                <a:latin typeface="Courier New"/>
                <a:ea typeface="Courier New"/>
                <a:cs typeface="Courier New"/>
                <a:sym typeface="Courier New"/>
              </a:rPr>
              <a:t>/medicamentos/{id}/historico-precos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6766560" y="3072384"/>
            <a:ext cx="4754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474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E4746"/>
                </a:solidFill>
                <a:latin typeface="Calibri"/>
                <a:ea typeface="Calibri"/>
                <a:cs typeface="Calibri"/>
                <a:sym typeface="Calibri"/>
              </a:rPr>
              <a:t>Histórico de preços coletados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548640" y="3831336"/>
            <a:ext cx="11064240" cy="685800"/>
          </a:xfrm>
          <a:prstGeom prst="rect">
            <a:avLst/>
          </a:prstGeom>
          <a:solidFill>
            <a:srgbClr val="F0F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685800" y="3959352"/>
            <a:ext cx="777240" cy="429768"/>
          </a:xfrm>
          <a:prstGeom prst="roundRect">
            <a:avLst>
              <a:gd fmla="val 12766" name="adj"/>
            </a:avLst>
          </a:prstGeom>
          <a:solidFill>
            <a:srgbClr val="B23A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685800" y="3959352"/>
            <a:ext cx="77724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1645920" y="3831336"/>
            <a:ext cx="502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24292E"/>
                </a:solidFill>
                <a:latin typeface="Courier New"/>
                <a:ea typeface="Courier New"/>
                <a:cs typeface="Courier New"/>
                <a:sym typeface="Courier New"/>
              </a:rPr>
              <a:t>/medicamentos/{id}/historico-precos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6766560" y="3831336"/>
            <a:ext cx="4754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474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E4746"/>
                </a:solidFill>
                <a:latin typeface="Calibri"/>
                <a:ea typeface="Calibri"/>
                <a:cs typeface="Calibri"/>
                <a:sym typeface="Calibri"/>
              </a:rPr>
              <a:t>Insere novo registro de preço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548640" y="4590288"/>
            <a:ext cx="110642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685800" y="4718304"/>
            <a:ext cx="777240" cy="429768"/>
          </a:xfrm>
          <a:prstGeom prst="roundRect">
            <a:avLst>
              <a:gd fmla="val 12766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685800" y="4718304"/>
            <a:ext cx="77724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1645920" y="4590288"/>
            <a:ext cx="502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24292E"/>
                </a:solidFill>
                <a:latin typeface="Courier New"/>
                <a:ea typeface="Courier New"/>
                <a:cs typeface="Courier New"/>
                <a:sym typeface="Courier New"/>
              </a:rPr>
              <a:t>/medicamentos/{id}/comparacao-precos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6766560" y="4590288"/>
            <a:ext cx="4754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474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E4746"/>
                </a:solidFill>
                <a:latin typeface="Calibri"/>
                <a:ea typeface="Calibri"/>
                <a:cs typeface="Calibri"/>
                <a:sym typeface="Calibri"/>
              </a:rPr>
              <a:t>Compara preço coletado com o PMC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548640" y="5349240"/>
            <a:ext cx="11064240" cy="685800"/>
          </a:xfrm>
          <a:prstGeom prst="rect">
            <a:avLst/>
          </a:prstGeom>
          <a:solidFill>
            <a:srgbClr val="F0F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685800" y="5477256"/>
            <a:ext cx="777240" cy="429768"/>
          </a:xfrm>
          <a:prstGeom prst="roundRect">
            <a:avLst>
              <a:gd fmla="val 12766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685800" y="5477256"/>
            <a:ext cx="77724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1645920" y="5349240"/>
            <a:ext cx="502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24292E"/>
                </a:solidFill>
                <a:latin typeface="Courier New"/>
                <a:ea typeface="Courier New"/>
                <a:cs typeface="Courier New"/>
                <a:sym typeface="Courier New"/>
              </a:rPr>
              <a:t>/medicamentos/{id}/equivalentes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6766560" y="5349240"/>
            <a:ext cx="4754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474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E4746"/>
                </a:solidFill>
                <a:latin typeface="Calibri"/>
                <a:ea typeface="Calibri"/>
                <a:cs typeface="Calibri"/>
                <a:sym typeface="Calibri"/>
              </a:rPr>
              <a:t>Lista medicamentos com a mesma substância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5A3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9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Titulo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i="0" u="none" dirty="0">
                <a:solidFill>
                  <a:srgbClr val="24292E"/>
                </a:solidFill>
                <a:latin typeface="Cambria"/>
                <a:ea typeface="Cambria"/>
                <a:cs typeface="Cambria"/>
                <a:sym typeface="Cambria"/>
              </a:rPr>
              <a:t>Frontend: aplicação publicada</a:t>
            </a:r>
          </a:p>
        </p:txBody>
      </p:sp>
      <p:sp>
        <p:nvSpPr>
          <p:cNvPr id="302" name="Titulo da figura"/>
          <p:cNvSpPr txBox="1"/>
          <p:nvPr/>
        </p:nvSpPr>
        <p:spPr>
          <a:xfrm>
            <a:off x="548640" y="1115568"/>
            <a:ext cx="690511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18288" rIns="0" bIns="18288" anchor="b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Figura 3 – Tela Home do PharmaPrice</a:t>
            </a:r>
          </a:p>
        </p:txBody>
      </p:sp>
      <p:sp>
        <p:nvSpPr>
          <p:cNvPr id="303" name="Moldura da imagem"/>
          <p:cNvSpPr/>
          <p:nvPr/>
        </p:nvSpPr>
        <p:spPr>
          <a:xfrm>
            <a:off x="548640" y="1481328"/>
            <a:ext cx="6905118" cy="440740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7E1DF"/>
            </a:solidFill>
          </a:ln>
          <a:effectLst>
            <a:outerShdw blurRad="76200" rotWithShape="0" algn="bl" dir="5400000" dist="25400">
              <a:srgbClr val="1A2E2C">
                <a:alpha val="18039"/>
              </a:srgbClr>
            </a:outerShdw>
          </a:effectLst>
        </p:spPr>
        <p:txBody>
          <a:bodyPr wrap="square" lIns="182880" tIns="137160" rIns="182880" bIns="137160" anchor="ctr" anchorCtr="0">
            <a:noAutofit/>
          </a:bodyPr>
          <a:lstStyle/>
          <a:p>
            <a:endParaRPr lang="pt-BR" sz="1400"/>
          </a:p>
        </p:txBody>
      </p:sp>
      <p:pic>
        <p:nvPicPr>
          <p:cNvPr id="304" name="Imagem" descr="Tela Home do PharmaPrice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603504" y="1536192"/>
            <a:ext cx="6795390" cy="429768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Fonte"/>
          <p:cNvSpPr txBox="1"/>
          <p:nvPr/>
        </p:nvSpPr>
        <p:spPr>
          <a:xfrm>
            <a:off x="548640" y="5934456"/>
            <a:ext cx="690511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18288" rIns="0" bIns="18288" anchor="t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i="0" u="none" dirty="0">
                <a:solidFill>
                  <a:srgbClr val="5A6664"/>
                </a:solidFill>
                <a:latin typeface="Calibri"/>
                <a:ea typeface="Calibri"/>
                <a:cs typeface="Calibri"/>
                <a:sym typeface="Calibri"/>
              </a:rPr>
              <a:t>Fonte: Elaborado pelo autor (2026). Recorte da captura de tela.</a:t>
            </a:r>
          </a:p>
        </p:txBody>
      </p:sp>
      <p:sp>
        <p:nvSpPr>
          <p:cNvPr id="306" name="Link da aplicacao"/>
          <p:cNvSpPr/>
          <p:nvPr/>
        </p:nvSpPr>
        <p:spPr>
          <a:xfrm>
            <a:off x="7728078" y="1481328"/>
            <a:ext cx="3912234" cy="86868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 w="12700">
            <a:solidFill>
              <a:srgbClr val="028090"/>
            </a:solidFill>
          </a:ln>
          <a:effectLst>
            <a:outerShdw blurRad="76200" rotWithShape="0" algn="bl" dir="5400000" dist="25400">
              <a:srgbClr val="1A2E2C">
                <a:alpha val="18039"/>
              </a:srgbClr>
            </a:outerShdw>
          </a:effectLst>
        </p:spPr>
        <p:txBody>
          <a:bodyPr wrap="square" lIns="91440" tIns="45720" rIns="91440" bIns="45720" anchor="ctr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i="0" u="sng" dirty="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pharmaprice.vercel.app</a:t>
            </a:r>
          </a:p>
        </p:txBody>
      </p:sp>
      <p:sp>
        <p:nvSpPr>
          <p:cNvPr id="307" name="Painel de descricao"/>
          <p:cNvSpPr/>
          <p:nvPr/>
        </p:nvSpPr>
        <p:spPr>
          <a:xfrm>
            <a:off x="7728078" y="2532888"/>
            <a:ext cx="3912234" cy="335584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7E1DF"/>
            </a:solidFill>
          </a:ln>
          <a:effectLst>
            <a:outerShdw blurRad="76200" rotWithShape="0" algn="bl" dir="5400000" dist="25400">
              <a:srgbClr val="1A2E2C">
                <a:alpha val="18039"/>
              </a:srgbClr>
            </a:outerShdw>
          </a:effectLst>
        </p:spPr>
        <p:txBody>
          <a:bodyPr wrap="square" lIns="228600" tIns="201168" rIns="182880" bIns="137160" anchor="t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600" b="1" i="0" u="none" dirty="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Acesse a aplicação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28090"/>
              </a:buClr>
              <a:buSzPts val="1400"/>
              <a:buFont typeface="Arial"/>
              <a:buChar char="•"/>
            </a:pPr>
            <a:r>
              <a:rPr lang="pt-BR" sz="1400" b="1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Fluxo principal: </a:t>
            </a:r>
            <a:r>
              <a:rPr lang="pt-BR" sz="14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Home, Resultados e Detalhes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28090"/>
              </a:buClr>
              <a:buSzPts val="1400"/>
              <a:buFont typeface="Arial"/>
              <a:buChar char="•"/>
            </a:pPr>
            <a:r>
              <a:rPr lang="pt-BR" sz="1400" b="1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7 telas: </a:t>
            </a:r>
            <a:r>
              <a:rPr lang="pt-BR" sz="14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Home, Resultados, Detalhes, Histórico, Configurações, Como Funciona e Sobre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28090"/>
              </a:buClr>
              <a:buSzPts val="1400"/>
              <a:buFont typeface="Arial"/>
              <a:buChar char="•"/>
            </a:pPr>
            <a:r>
              <a:rPr lang="pt-BR" sz="1400" b="1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Código aberto (licença MIT):</a:t>
            </a:r>
          </a:p>
          <a:p>
            <a:pPr marL="228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0" i="0" u="sng" dirty="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github.com/bernardooduarte/pharmaprice</a:t>
            </a:r>
          </a:p>
        </p:txBody>
      </p:sp>
      <p:sp>
        <p:nvSpPr>
          <p:cNvPr id="308" name="Numero do slide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i="0" u="none" dirty="0">
                <a:solidFill>
                  <a:srgbClr val="9AA5A3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9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24292E"/>
                </a:solidFill>
                <a:latin typeface="Cambria"/>
                <a:ea typeface="Cambria"/>
                <a:cs typeface="Cambria"/>
                <a:sym typeface="Cambria"/>
              </a:rPr>
              <a:t>Testes e qualidade de software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822960" y="1737360"/>
            <a:ext cx="3291840" cy="32918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822960" y="2331720"/>
            <a:ext cx="3291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mbria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71%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2"/>
          <p:cNvSpPr/>
          <p:nvPr/>
        </p:nvSpPr>
        <p:spPr>
          <a:xfrm>
            <a:off x="822960" y="3566160"/>
            <a:ext cx="3291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7FAF9"/>
                </a:solidFill>
                <a:latin typeface="Calibri"/>
                <a:ea typeface="Calibri"/>
                <a:cs typeface="Calibri"/>
                <a:sym typeface="Calibri"/>
              </a:rPr>
              <a:t>de cobertura total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AF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7FAF9"/>
                </a:solidFill>
                <a:latin typeface="Calibri"/>
                <a:ea typeface="Calibri"/>
                <a:cs typeface="Calibri"/>
                <a:sym typeface="Calibri"/>
              </a:rPr>
              <a:t>39 testes, todos aprovados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7" name="Google Shape;207;p12"/>
          <p:cNvGraphicFramePr/>
          <p:nvPr/>
        </p:nvGraphicFramePr>
        <p:xfrm>
          <a:off x="4663440" y="17373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{4CB32090-3C25-4073-ABD7-ADC7C44AA47A}</a:tableStyleId>
              </a:tblPr>
              <a:tblGrid>
                <a:gridCol w="4389125"/>
                <a:gridCol w="256032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Módulo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Cobertura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29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429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api/medicamentos.py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29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429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99%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29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429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db/models.py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29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429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97%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29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429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core/config.py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29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429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88%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29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429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cmed/pipeline.py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29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429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66%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29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429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db/session.py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29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429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60%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29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429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main.py (inicialização e sincronização)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29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429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51%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29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429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Scripts de linha de comando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29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2429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0% (execução manual)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8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4"/>
                    </a:solidFill>
                  </a:tcPr>
                </a:tc>
              </a:tr>
            </a:tbl>
          </a:graphicData>
        </a:graphic>
      </p:graphicFrame>
      <p:sp>
        <p:nvSpPr>
          <p:cNvPr id="208" name="Google Shape;208;p12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5A3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Titulo da figura"/>
          <p:cNvSpPr txBox="1"/>
          <p:nvPr/>
        </p:nvSpPr>
        <p:spPr>
          <a:xfrm>
            <a:off x="4663440" y="1371600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18288" rIns="0" bIns="18288" anchor="b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Tabela 1 – Cobertura de testes automatizados por módulo do backend</a:t>
            </a:r>
          </a:p>
        </p:txBody>
      </p:sp>
      <p:sp>
        <p:nvSpPr>
          <p:cNvPr id="402" name="Fonte"/>
          <p:cNvSpPr txBox="1"/>
          <p:nvPr/>
        </p:nvSpPr>
        <p:spPr>
          <a:xfrm>
            <a:off x="4663440" y="5486400"/>
            <a:ext cx="6949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18288" rIns="0" bIns="18288" anchor="t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i="0" u="none" dirty="0">
                <a:solidFill>
                  <a:srgbClr val="5A6664"/>
                </a:solidFill>
                <a:latin typeface="Calibri"/>
                <a:ea typeface="Calibri"/>
                <a:cs typeface="Calibri"/>
                <a:sym typeface="Calibri"/>
              </a:rPr>
              <a:t>Fonte: Elaborado pelo autor, com pytest-cov (2026).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8090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"/>
          <p:cNvSpPr/>
          <p:nvPr/>
        </p:nvSpPr>
        <p:spPr>
          <a:xfrm>
            <a:off x="-1280160" y="-1645920"/>
            <a:ext cx="4114800" cy="4114800"/>
          </a:xfrm>
          <a:prstGeom prst="ellipse">
            <a:avLst/>
          </a:prstGeom>
          <a:solidFill>
            <a:srgbClr val="00A896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3"/>
          <p:cNvSpPr/>
          <p:nvPr/>
        </p:nvSpPr>
        <p:spPr>
          <a:xfrm>
            <a:off x="640080" y="64008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Considerações finais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640080" y="1737360"/>
            <a:ext cx="1060704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Contribuição principal</a:t>
            </a:r>
            <a:br>
              <a:rPr b="1" i="0" lang="en-US" sz="16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79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Demonstrar, na prática, que o núcleo do modelo conceitual do TCC I é tecnicamente viável com tecnologias abertas, sem depender de acordos comerciais ou infraestrutura complexa de coleta de dados.</a:t>
            </a:r>
            <a:b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Limitações reconhecidas</a:t>
            </a:r>
            <a:br>
              <a:rPr b="1" i="0" lang="en-US" sz="16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79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 recomendação por IA, sem coleta automatizada, sem validação empírica com usuários reais nesta etapa.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640080" y="585216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400"/>
              <a:buFont typeface="Cambria"/>
              <a:buNone/>
            </a:pPr>
            <a:r>
              <a:rPr b="0" i="1" lang="en-US" sz="24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Obrigado. Perguntas?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3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5A3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9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Titulo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i="0" u="none" dirty="0">
                <a:solidFill>
                  <a:srgbClr val="24292E"/>
                </a:solidFill>
                <a:latin typeface="Cambria"/>
                <a:ea typeface="Cambria"/>
                <a:cs typeface="Cambria"/>
                <a:sym typeface="Cambria"/>
              </a:rPr>
              <a:t>Frontend: resultados da busca</a:t>
            </a:r>
          </a:p>
        </p:txBody>
      </p:sp>
      <p:sp>
        <p:nvSpPr>
          <p:cNvPr id="302" name="Titulo da figura"/>
          <p:cNvSpPr txBox="1"/>
          <p:nvPr/>
        </p:nvSpPr>
        <p:spPr>
          <a:xfrm>
            <a:off x="548640" y="1115568"/>
            <a:ext cx="833932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18288" rIns="0" bIns="18288" anchor="b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Figura 4 – Tela de resultados de busca, com o PMC da UF selecionada</a:t>
            </a:r>
          </a:p>
        </p:txBody>
      </p:sp>
      <p:sp>
        <p:nvSpPr>
          <p:cNvPr id="303" name="Moldura da imagem"/>
          <p:cNvSpPr/>
          <p:nvPr/>
        </p:nvSpPr>
        <p:spPr>
          <a:xfrm>
            <a:off x="548640" y="1481328"/>
            <a:ext cx="8339328" cy="3718335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7E1DF"/>
            </a:solidFill>
          </a:ln>
          <a:effectLst>
            <a:outerShdw blurRad="76200" rotWithShape="0" algn="bl" dir="5400000" dist="25400">
              <a:srgbClr val="1A2E2C">
                <a:alpha val="18039"/>
              </a:srgbClr>
            </a:outerShdw>
          </a:effectLst>
        </p:spPr>
        <p:txBody>
          <a:bodyPr wrap="square" lIns="182880" tIns="137160" rIns="182880" bIns="137160" anchor="ctr" anchorCtr="0">
            <a:noAutofit/>
          </a:bodyPr>
          <a:lstStyle/>
          <a:p>
            <a:endParaRPr lang="pt-BR" sz="1400"/>
          </a:p>
        </p:txBody>
      </p:sp>
      <p:pic>
        <p:nvPicPr>
          <p:cNvPr id="304" name="Imagem" descr="Tela de resultados da busca com o PMC da UF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603504" y="1536192"/>
            <a:ext cx="8229600" cy="3608607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Fonte"/>
          <p:cNvSpPr txBox="1"/>
          <p:nvPr/>
        </p:nvSpPr>
        <p:spPr>
          <a:xfrm>
            <a:off x="548640" y="5245383"/>
            <a:ext cx="833932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18288" rIns="0" bIns="18288" anchor="t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i="0" u="none" dirty="0">
                <a:solidFill>
                  <a:srgbClr val="5A6664"/>
                </a:solidFill>
                <a:latin typeface="Calibri"/>
                <a:ea typeface="Calibri"/>
                <a:cs typeface="Calibri"/>
                <a:sym typeface="Calibri"/>
              </a:rPr>
              <a:t>Fonte: Elaborado pelo autor (2026). Recorte da captura de tela.</a:t>
            </a:r>
          </a:p>
        </p:txBody>
      </p:sp>
      <p:sp>
        <p:nvSpPr>
          <p:cNvPr id="306" name="Painel de descricao"/>
          <p:cNvSpPr/>
          <p:nvPr/>
        </p:nvSpPr>
        <p:spPr>
          <a:xfrm>
            <a:off x="9162288" y="1481328"/>
            <a:ext cx="2478024" cy="3718335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7E1DF"/>
            </a:solidFill>
          </a:ln>
          <a:effectLst>
            <a:outerShdw blurRad="76200" rotWithShape="0" algn="bl" dir="5400000" dist="25400">
              <a:srgbClr val="1A2E2C">
                <a:alpha val="18039"/>
              </a:srgbClr>
            </a:outerShdw>
          </a:effectLst>
        </p:spPr>
        <p:txBody>
          <a:bodyPr wrap="square" lIns="228600" tIns="201168" rIns="182880" bIns="137160" anchor="t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600" b="1" i="0" u="none" dirty="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Na tela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28090"/>
              </a:buClr>
              <a:buSzPts val="1400"/>
              <a:buFont typeface="Arial"/>
              <a:buChar char="•"/>
            </a:pPr>
            <a:r>
              <a:rPr lang="pt-BR" sz="14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Lista de medicamentos com o PMC da UF escolhida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28090"/>
              </a:buClr>
              <a:buSzPts val="1400"/>
              <a:buFont typeface="Arial"/>
              <a:buChar char="•"/>
            </a:pPr>
            <a:r>
              <a:rPr lang="pt-BR" sz="14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Busca por nome comercial ou princípio ativo, com até 20 resultados por padrão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28090"/>
              </a:buClr>
              <a:buSzPts val="1400"/>
              <a:buFont typeface="Arial"/>
              <a:buChar char="•"/>
            </a:pPr>
            <a:r>
              <a:rPr lang="pt-BR" sz="14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Ordenação por similaridade textual (pg_trgm, limiar de 0,2)</a:t>
            </a:r>
          </a:p>
        </p:txBody>
      </p:sp>
      <p:sp>
        <p:nvSpPr>
          <p:cNvPr id="307" name="Numero do slide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i="0" u="none" dirty="0">
                <a:solidFill>
                  <a:srgbClr val="9AA5A3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9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Titulo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i="0" u="none" dirty="0">
                <a:solidFill>
                  <a:srgbClr val="24292E"/>
                </a:solidFill>
                <a:latin typeface="Cambria"/>
                <a:ea typeface="Cambria"/>
                <a:cs typeface="Cambria"/>
                <a:sym typeface="Cambria"/>
              </a:rPr>
              <a:t>Frontend: detalhes e comparação com o PMC</a:t>
            </a:r>
          </a:p>
        </p:txBody>
      </p:sp>
      <p:sp>
        <p:nvSpPr>
          <p:cNvPr id="302" name="Titulo da figura"/>
          <p:cNvSpPr txBox="1"/>
          <p:nvPr/>
        </p:nvSpPr>
        <p:spPr>
          <a:xfrm>
            <a:off x="548640" y="1115568"/>
            <a:ext cx="833932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18288" rIns="0" bIns="18288" anchor="b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Figura 5 – Tela de detalhes do medicamento, com a comparação ao PMC</a:t>
            </a:r>
          </a:p>
        </p:txBody>
      </p:sp>
      <p:sp>
        <p:nvSpPr>
          <p:cNvPr id="303" name="Moldura da imagem"/>
          <p:cNvSpPr/>
          <p:nvPr/>
        </p:nvSpPr>
        <p:spPr>
          <a:xfrm>
            <a:off x="548640" y="1481328"/>
            <a:ext cx="8339328" cy="3972314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7E1DF"/>
            </a:solidFill>
          </a:ln>
          <a:effectLst>
            <a:outerShdw blurRad="76200" rotWithShape="0" algn="bl" dir="5400000" dist="25400">
              <a:srgbClr val="1A2E2C">
                <a:alpha val="18039"/>
              </a:srgbClr>
            </a:outerShdw>
          </a:effectLst>
        </p:spPr>
        <p:txBody>
          <a:bodyPr wrap="square" lIns="182880" tIns="137160" rIns="182880" bIns="137160" anchor="ctr" anchorCtr="0">
            <a:noAutofit/>
          </a:bodyPr>
          <a:lstStyle/>
          <a:p>
            <a:endParaRPr lang="pt-BR" sz="1400"/>
          </a:p>
        </p:txBody>
      </p:sp>
      <p:pic>
        <p:nvPicPr>
          <p:cNvPr id="304" name="Imagem" descr="Tela de detalhes do medicamento com a comparação ao PMC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603504" y="1536192"/>
            <a:ext cx="8229600" cy="3862586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Fonte"/>
          <p:cNvSpPr txBox="1"/>
          <p:nvPr/>
        </p:nvSpPr>
        <p:spPr>
          <a:xfrm>
            <a:off x="548640" y="5499362"/>
            <a:ext cx="8339328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18288" rIns="0" bIns="18288" anchor="t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i="0" u="none" dirty="0">
                <a:solidFill>
                  <a:srgbClr val="5A6664"/>
                </a:solidFill>
                <a:latin typeface="Calibri"/>
                <a:ea typeface="Calibri"/>
                <a:cs typeface="Calibri"/>
                <a:sym typeface="Calibri"/>
              </a:rPr>
              <a:t>Fonte: Elaborado pelo autor (2026). Recorte da captura de tela.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i="0" u="none" dirty="0">
                <a:solidFill>
                  <a:srgbClr val="5A6664"/>
                </a:solidFill>
                <a:latin typeface="Calibri"/>
                <a:ea typeface="Calibri"/>
                <a:cs typeface="Calibri"/>
                <a:sym typeface="Calibri"/>
              </a:rPr>
              <a:t>Nota: os preços exibidos são dados fictícios de demonstração, não preços reais de farmácias.</a:t>
            </a:r>
          </a:p>
        </p:txBody>
      </p:sp>
      <p:sp>
        <p:nvSpPr>
          <p:cNvPr id="306" name="Painel de descricao"/>
          <p:cNvSpPr/>
          <p:nvPr/>
        </p:nvSpPr>
        <p:spPr>
          <a:xfrm>
            <a:off x="9162288" y="1481328"/>
            <a:ext cx="2478024" cy="3972314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7E1DF"/>
            </a:solidFill>
          </a:ln>
          <a:effectLst>
            <a:outerShdw blurRad="76200" rotWithShape="0" algn="bl" dir="5400000" dist="25400">
              <a:srgbClr val="1A2E2C">
                <a:alpha val="18039"/>
              </a:srgbClr>
            </a:outerShdw>
          </a:effectLst>
        </p:spPr>
        <p:txBody>
          <a:bodyPr wrap="square" lIns="228600" tIns="201168" rIns="182880" bIns="137160" anchor="t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600" b="1" i="0" u="none" dirty="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Na tela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28090"/>
              </a:buClr>
              <a:buSzPts val="1400"/>
              <a:buFont typeface="Arial"/>
              <a:buChar char="•"/>
            </a:pPr>
            <a:r>
              <a:rPr lang="pt-BR" sz="14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Cartão com o PMC da UF consultada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28090"/>
              </a:buClr>
              <a:buSzPts val="1400"/>
              <a:buFont typeface="Arial"/>
              <a:buChar char="•"/>
            </a:pPr>
            <a:r>
              <a:rPr lang="pt-BR" sz="14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Cada preço coletado comparado ao teto, em reais e em percentual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28090"/>
              </a:buClr>
              <a:buSzPts val="1400"/>
              <a:buFont typeface="Arial"/>
              <a:buChar char="•"/>
            </a:pPr>
            <a:r>
              <a:rPr lang="pt-BR" sz="14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Equivalentes: medicamentos com a mesma substância, com o PMC da mesma UF</a:t>
            </a:r>
          </a:p>
        </p:txBody>
      </p:sp>
      <p:sp>
        <p:nvSpPr>
          <p:cNvPr id="307" name="Numero do slide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i="0" u="none" dirty="0">
                <a:solidFill>
                  <a:srgbClr val="9AA5A3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9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Titulo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i="0" u="none" dirty="0">
                <a:solidFill>
                  <a:srgbClr val="24292E"/>
                </a:solidFill>
                <a:latin typeface="Cambria"/>
                <a:ea typeface="Cambria"/>
                <a:cs typeface="Cambria"/>
                <a:sym typeface="Cambria"/>
              </a:rPr>
              <a:t>Frontend: evolução dos preços</a:t>
            </a:r>
          </a:p>
        </p:txBody>
      </p:sp>
      <p:sp>
        <p:nvSpPr>
          <p:cNvPr id="302" name="Titulo da figura"/>
          <p:cNvSpPr txBox="1"/>
          <p:nvPr/>
        </p:nvSpPr>
        <p:spPr>
          <a:xfrm>
            <a:off x="548640" y="1115568"/>
            <a:ext cx="833932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18288" rIns="0" bIns="18288" anchor="b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Figura 6 – Gráfico de evolução dos preços com linha de referência do PMC</a:t>
            </a:r>
          </a:p>
        </p:txBody>
      </p:sp>
      <p:sp>
        <p:nvSpPr>
          <p:cNvPr id="303" name="Moldura da imagem"/>
          <p:cNvSpPr/>
          <p:nvPr/>
        </p:nvSpPr>
        <p:spPr>
          <a:xfrm>
            <a:off x="548640" y="1481328"/>
            <a:ext cx="8339328" cy="430560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7E1DF"/>
            </a:solidFill>
          </a:ln>
          <a:effectLst>
            <a:outerShdw blurRad="76200" rotWithShape="0" algn="bl" dir="5400000" dist="25400">
              <a:srgbClr val="1A2E2C">
                <a:alpha val="18039"/>
              </a:srgbClr>
            </a:outerShdw>
          </a:effectLst>
        </p:spPr>
        <p:txBody>
          <a:bodyPr wrap="square" lIns="182880" tIns="137160" rIns="182880" bIns="137160" anchor="ctr" anchorCtr="0">
            <a:noAutofit/>
          </a:bodyPr>
          <a:lstStyle/>
          <a:p>
            <a:endParaRPr lang="pt-BR" sz="1400"/>
          </a:p>
        </p:txBody>
      </p:sp>
      <p:pic>
        <p:nvPicPr>
          <p:cNvPr id="304" name="Imagem" descr="Gráfico de evolução dos preços com a linha de referência do PMC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603504" y="1536192"/>
            <a:ext cx="8229600" cy="419588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Fonte"/>
          <p:cNvSpPr txBox="1"/>
          <p:nvPr/>
        </p:nvSpPr>
        <p:spPr>
          <a:xfrm>
            <a:off x="548640" y="5832656"/>
            <a:ext cx="8339328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18288" rIns="0" bIns="18288" anchor="t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i="0" u="none" dirty="0">
                <a:solidFill>
                  <a:srgbClr val="5A6664"/>
                </a:solidFill>
                <a:latin typeface="Calibri"/>
                <a:ea typeface="Calibri"/>
                <a:cs typeface="Calibri"/>
                <a:sym typeface="Calibri"/>
              </a:rPr>
              <a:t>Fonte: Elaborado pelo autor (2026).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i="0" u="none" dirty="0">
                <a:solidFill>
                  <a:srgbClr val="5A6664"/>
                </a:solidFill>
                <a:latin typeface="Calibri"/>
                <a:ea typeface="Calibri"/>
                <a:cs typeface="Calibri"/>
                <a:sym typeface="Calibri"/>
              </a:rPr>
              <a:t>Nota: os preços exibidos são dados fictícios de demonstração, não preços reais de farmácias.</a:t>
            </a:r>
          </a:p>
        </p:txBody>
      </p:sp>
      <p:sp>
        <p:nvSpPr>
          <p:cNvPr id="306" name="Painel de descricao"/>
          <p:cNvSpPr/>
          <p:nvPr/>
        </p:nvSpPr>
        <p:spPr>
          <a:xfrm>
            <a:off x="9162288" y="1481328"/>
            <a:ext cx="2478024" cy="430560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7E1DF"/>
            </a:solidFill>
          </a:ln>
          <a:effectLst>
            <a:outerShdw blurRad="76200" rotWithShape="0" algn="bl" dir="5400000" dist="25400">
              <a:srgbClr val="1A2E2C">
                <a:alpha val="18039"/>
              </a:srgbClr>
            </a:outerShdw>
          </a:effectLst>
        </p:spPr>
        <p:txBody>
          <a:bodyPr wrap="square" lIns="228600" tIns="201168" rIns="182880" bIns="137160" anchor="t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600" b="1" i="0" u="none" dirty="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No gráfico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28090"/>
              </a:buClr>
              <a:buSzPts val="1400"/>
              <a:buFont typeface="Arial"/>
              <a:buChar char="•"/>
            </a:pPr>
            <a:r>
              <a:rPr lang="pt-BR" sz="14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Preços registrados ao longo do tempo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28090"/>
              </a:buClr>
              <a:buSzPts val="1400"/>
              <a:buFont typeface="Arial"/>
              <a:buChar char="•"/>
            </a:pPr>
            <a:r>
              <a:rPr lang="pt-BR" sz="14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Linha de referência no PMC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28090"/>
              </a:buClr>
              <a:buSzPts val="1400"/>
              <a:buFont typeface="Arial"/>
              <a:buChar char="•"/>
            </a:pPr>
            <a:r>
              <a:rPr lang="pt-BR" sz="14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Cada registro guarda o PMC vigente na data da coleta, o que separa a variação do preço da variação do teto</a:t>
            </a:r>
          </a:p>
        </p:txBody>
      </p:sp>
      <p:sp>
        <p:nvSpPr>
          <p:cNvPr id="307" name="Numero do slide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i="0" u="none" dirty="0">
                <a:solidFill>
                  <a:srgbClr val="9AA5A3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9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Titulo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i="0" u="none" dirty="0">
                <a:solidFill>
                  <a:srgbClr val="24292E"/>
                </a:solidFill>
                <a:latin typeface="Cambria"/>
                <a:ea typeface="Cambria"/>
                <a:cs typeface="Cambria"/>
                <a:sym typeface="Cambria"/>
              </a:rPr>
              <a:t>Frontend: configurações</a:t>
            </a:r>
          </a:p>
        </p:txBody>
      </p:sp>
      <p:sp>
        <p:nvSpPr>
          <p:cNvPr id="302" name="Titulo da figura"/>
          <p:cNvSpPr txBox="1"/>
          <p:nvPr/>
        </p:nvSpPr>
        <p:spPr>
          <a:xfrm>
            <a:off x="548640" y="1115568"/>
            <a:ext cx="820866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18288" rIns="0" bIns="18288" anchor="b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Figura 7 – Tela de configurações do PharmaPrice</a:t>
            </a:r>
          </a:p>
        </p:txBody>
      </p:sp>
      <p:sp>
        <p:nvSpPr>
          <p:cNvPr id="303" name="Moldura da imagem"/>
          <p:cNvSpPr/>
          <p:nvPr/>
        </p:nvSpPr>
        <p:spPr>
          <a:xfrm>
            <a:off x="548640" y="1481328"/>
            <a:ext cx="8208668" cy="440740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7E1DF"/>
            </a:solidFill>
          </a:ln>
          <a:effectLst>
            <a:outerShdw blurRad="76200" rotWithShape="0" algn="bl" dir="5400000" dist="25400">
              <a:srgbClr val="1A2E2C">
                <a:alpha val="18039"/>
              </a:srgbClr>
            </a:outerShdw>
          </a:effectLst>
        </p:spPr>
        <p:txBody>
          <a:bodyPr wrap="square" lIns="182880" tIns="137160" rIns="182880" bIns="137160" anchor="ctr" anchorCtr="0">
            <a:noAutofit/>
          </a:bodyPr>
          <a:lstStyle/>
          <a:p>
            <a:endParaRPr lang="pt-BR" sz="1400"/>
          </a:p>
        </p:txBody>
      </p:sp>
      <p:pic>
        <p:nvPicPr>
          <p:cNvPr id="304" name="Imagem" descr="Tela de configurações do PharmaPrice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603504" y="1536192"/>
            <a:ext cx="8098940" cy="429768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Fonte"/>
          <p:cNvSpPr txBox="1"/>
          <p:nvPr/>
        </p:nvSpPr>
        <p:spPr>
          <a:xfrm>
            <a:off x="548640" y="5934456"/>
            <a:ext cx="820866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18288" rIns="0" bIns="18288" anchor="t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i="0" u="none" dirty="0">
                <a:solidFill>
                  <a:srgbClr val="5A6664"/>
                </a:solidFill>
                <a:latin typeface="Calibri"/>
                <a:ea typeface="Calibri"/>
                <a:cs typeface="Calibri"/>
                <a:sym typeface="Calibri"/>
              </a:rPr>
              <a:t>Fonte: Elaborado pelo autor (2026). Recorte da captura de tela.</a:t>
            </a:r>
          </a:p>
        </p:txBody>
      </p:sp>
      <p:sp>
        <p:nvSpPr>
          <p:cNvPr id="306" name="Painel de descricao"/>
          <p:cNvSpPr/>
          <p:nvPr/>
        </p:nvSpPr>
        <p:spPr>
          <a:xfrm>
            <a:off x="9031628" y="1481328"/>
            <a:ext cx="2608684" cy="440740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7E1DF"/>
            </a:solidFill>
          </a:ln>
          <a:effectLst>
            <a:outerShdw blurRad="76200" rotWithShape="0" algn="bl" dir="5400000" dist="25400">
              <a:srgbClr val="1A2E2C">
                <a:alpha val="18039"/>
              </a:srgbClr>
            </a:outerShdw>
          </a:effectLst>
        </p:spPr>
        <p:txBody>
          <a:bodyPr wrap="square" lIns="228600" tIns="201168" rIns="182880" bIns="137160" anchor="t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600" b="1" i="0" u="none" dirty="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Na tela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28090"/>
              </a:buClr>
              <a:buSzPts val="1400"/>
              <a:buFont typeface="Arial"/>
              <a:buChar char="•"/>
            </a:pPr>
            <a:r>
              <a:rPr lang="pt-BR" sz="14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UF, CEP, raio de busca e preferências por tipo de medicamento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28090"/>
              </a:buClr>
              <a:buSzPts val="1400"/>
              <a:buFont typeface="Arial"/>
              <a:buChar char="•"/>
            </a:pPr>
            <a:r>
              <a:rPr lang="pt-BR" sz="14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Salvas só no navegador (localStorage), sem cadastro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28090"/>
              </a:buClr>
              <a:buSzPts val="1400"/>
              <a:buFont typeface="Arial"/>
              <a:buChar char="•"/>
            </a:pPr>
            <a:r>
              <a:rPr lang="pt-BR" sz="14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CEP e raio ainda não influenciam a busca: a geolocalização é trabalho futuro</a:t>
            </a:r>
          </a:p>
        </p:txBody>
      </p:sp>
      <p:sp>
        <p:nvSpPr>
          <p:cNvPr id="307" name="Numero do slide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i="0" u="none" dirty="0">
                <a:solidFill>
                  <a:srgbClr val="9AA5A3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9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Titulo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i="0" u="none" dirty="0">
                <a:solidFill>
                  <a:srgbClr val="24292E"/>
                </a:solidFill>
                <a:latin typeface="Cambria"/>
                <a:ea typeface="Cambria"/>
                <a:cs typeface="Cambria"/>
                <a:sym typeface="Cambria"/>
              </a:rPr>
              <a:t>Publicações e eventos</a:t>
            </a:r>
          </a:p>
        </p:txBody>
      </p:sp>
      <p:sp>
        <p:nvSpPr>
          <p:cNvPr id="302" name="Cartao esquerdo"/>
          <p:cNvSpPr/>
          <p:nvPr/>
        </p:nvSpPr>
        <p:spPr>
          <a:xfrm>
            <a:off x="548640" y="1463040"/>
            <a:ext cx="5394960" cy="4480560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7E1DF"/>
            </a:solidFill>
          </a:ln>
          <a:effectLst>
            <a:outerShdw blurRad="76200" rotWithShape="0" algn="bl" dir="5400000" dist="25400">
              <a:srgbClr val="1A2E2C">
                <a:alpha val="18039"/>
              </a:srgbClr>
            </a:outerShdw>
          </a:effectLst>
        </p:spPr>
        <p:txBody>
          <a:bodyPr wrap="square" lIns="182880" tIns="137160" rIns="182880" bIns="137160" anchor="ctr" anchorCtr="0">
            <a:noAutofit/>
          </a:bodyPr>
          <a:lstStyle/>
          <a:p>
            <a:endParaRPr lang="pt-BR" sz="1400"/>
          </a:p>
        </p:txBody>
      </p:sp>
      <p:sp>
        <p:nvSpPr>
          <p:cNvPr id="303" name="Circulo 1"/>
          <p:cNvSpPr/>
          <p:nvPr/>
        </p:nvSpPr>
        <p:spPr>
          <a:xfrm>
            <a:off x="868680" y="178308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i="0" u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</a:p>
        </p:txBody>
      </p:sp>
      <p:sp>
        <p:nvSpPr>
          <p:cNvPr id="304" name="Cabecalho 1"/>
          <p:cNvSpPr txBox="1"/>
          <p:nvPr/>
        </p:nvSpPr>
        <p:spPr>
          <a:xfrm>
            <a:off x="1554480" y="1755648"/>
            <a:ext cx="420624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b="1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TOI 2026: publicado</a:t>
            </a:r>
          </a:p>
        </p:txBody>
      </p:sp>
      <p:sp>
        <p:nvSpPr>
          <p:cNvPr id="305" name="Texto 1"/>
          <p:cNvSpPr txBox="1"/>
          <p:nvPr/>
        </p:nvSpPr>
        <p:spPr>
          <a:xfrm>
            <a:off x="868680" y="2423160"/>
            <a:ext cx="484632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Anais do XII Congresso Internacional em Tecnologia e Organização da Informação, Guimarães, Portugal (ISSN 2965-4130). Publicação em 30/09/2026.</a:t>
            </a:r>
          </a:p>
        </p:txBody>
      </p:sp>
      <p:sp>
        <p:nvSpPr>
          <p:cNvPr id="306" name="Circulo 2"/>
          <p:cNvSpPr/>
          <p:nvPr/>
        </p:nvSpPr>
        <p:spPr>
          <a:xfrm>
            <a:off x="868680" y="3840480"/>
            <a:ext cx="502920" cy="50292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i="0" u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</a:p>
        </p:txBody>
      </p:sp>
      <p:sp>
        <p:nvSpPr>
          <p:cNvPr id="307" name="Cabecalho 2"/>
          <p:cNvSpPr txBox="1"/>
          <p:nvPr/>
        </p:nvSpPr>
        <p:spPr>
          <a:xfrm>
            <a:off x="1554480" y="3813048"/>
            <a:ext cx="420624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b="1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CNEG 2026: aceito</a:t>
            </a:r>
          </a:p>
        </p:txBody>
      </p:sp>
      <p:sp>
        <p:nvSpPr>
          <p:cNvPr id="308" name="Texto 2"/>
          <p:cNvSpPr txBox="1"/>
          <p:nvPr/>
        </p:nvSpPr>
        <p:spPr>
          <a:xfrm>
            <a:off x="868680" y="4480560"/>
            <a:ext cx="484632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Trabalho aceito no congresso, com apresentação em 22/10/2026.</a:t>
            </a:r>
          </a:p>
        </p:txBody>
      </p:sp>
      <p:sp>
        <p:nvSpPr>
          <p:cNvPr id="309" name="Cartao direito"/>
          <p:cNvSpPr/>
          <p:nvPr/>
        </p:nvSpPr>
        <p:spPr>
          <a:xfrm>
            <a:off x="6309360" y="1463040"/>
            <a:ext cx="5330952" cy="4480560"/>
          </a:xfrm>
          <a:prstGeom prst="roundRect">
            <a:avLst>
              <a:gd name="adj" fmla="val 2830"/>
            </a:avLst>
          </a:prstGeom>
          <a:solidFill>
            <a:srgbClr val="E6F4F1"/>
          </a:solidFill>
          <a:ln w="12700">
            <a:solidFill>
              <a:srgbClr val="028090"/>
            </a:solidFill>
          </a:ln>
        </p:spPr>
        <p:txBody>
          <a:bodyPr wrap="square" lIns="365760" tIns="274320" rIns="274320" bIns="274320" anchor="ctr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lang="pt-BR" sz="1600" b="1" i="0" u="none" dirty="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Acesso aos anais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pt-BR" sz="1500" b="1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Doity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pt-BR" sz="1500" b="0" i="0" u="sng" dirty="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doity.com.br/anais/toi2026/trabalho/521740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pt-BR" sz="1500" b="1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Zenodo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pt-BR" sz="1500" b="0" i="0" u="sng" dirty="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zenodo.org/records/23099458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600"/>
              </a:spcAft>
              <a:buNone/>
            </a:pPr>
            <a:r>
              <a:rPr lang="pt-BR" sz="15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DOI: 10.5281/zenodo.23099458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i="0" u="none" dirty="0">
                <a:solidFill>
                  <a:srgbClr val="5A6664"/>
                </a:solidFill>
                <a:latin typeface="Calibri"/>
                <a:ea typeface="Calibri"/>
                <a:cs typeface="Calibri"/>
                <a:sym typeface="Calibri"/>
              </a:rPr>
              <a:t>Fonte: DUARTE; MORAES, 2026.</a:t>
            </a:r>
          </a:p>
        </p:txBody>
      </p:sp>
      <p:sp>
        <p:nvSpPr>
          <p:cNvPr id="310" name="Numero do slide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i="0" u="none" dirty="0">
                <a:solidFill>
                  <a:srgbClr val="9AA5A3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9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Titulo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i="0" u="none" dirty="0">
                <a:solidFill>
                  <a:srgbClr val="24292E"/>
                </a:solidFill>
                <a:latin typeface="Cambria"/>
                <a:ea typeface="Cambria"/>
                <a:cs typeface="Cambria"/>
                <a:sym typeface="Cambria"/>
              </a:rPr>
              <a:t>Referências</a:t>
            </a:r>
          </a:p>
        </p:txBody>
      </p:sp>
      <p:sp>
        <p:nvSpPr>
          <p:cNvPr id="302" name="Lista de referencias"/>
          <p:cNvSpPr txBox="1"/>
          <p:nvPr/>
        </p:nvSpPr>
        <p:spPr>
          <a:xfrm>
            <a:off x="548640" y="1280160"/>
            <a:ext cx="11064240" cy="5074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pt-BR" sz="13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AKERLOF, G. A. The market for ‘lemons’: quality uncertainty and the market mechanism. </a:t>
            </a:r>
            <a:r>
              <a:rPr lang="pt-BR" sz="1300" b="1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The Quarterly Journal of Economics</a:t>
            </a:r>
            <a:r>
              <a:rPr lang="pt-BR" sz="13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, v. 84, n. 3, p. 488-500, 1970.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pt-BR" sz="13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ALI, S. et al. Explainable Artificial Intelligence (XAI): what we know and what is left to attain trustworthy artificial intelligence. </a:t>
            </a:r>
            <a:r>
              <a:rPr lang="pt-BR" sz="1300" b="1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Information Fusion</a:t>
            </a:r>
            <a:r>
              <a:rPr lang="pt-BR" sz="13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, v. 99, 101805, 2023. DOI: 10.1016/j.inffus.2023.101805.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pt-BR" sz="13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ALTER, S. Defining information systems as work systems: implications for the IS field. </a:t>
            </a:r>
            <a:r>
              <a:rPr lang="pt-BR" sz="1300" b="1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European Journal of Information Systems</a:t>
            </a:r>
            <a:r>
              <a:rPr lang="pt-BR" sz="13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, v. 17, n. 5, p. 448-469, 2008. DOI: 10.1057/ejis.2008.37.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pt-BR" sz="13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BARATA, B. A. et al. What about data science? An analysis of the market based on job posts. </a:t>
            </a:r>
            <a:r>
              <a:rPr lang="pt-BR" sz="1300" b="1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Revista ENIAC de Iniciação Científica</a:t>
            </a:r>
            <a:r>
              <a:rPr lang="pt-BR" sz="13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, p. 824-838, 2023.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pt-BR" sz="13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BODUR, H. O.; KLEIN, N. M.; ARORA, N. Online price search: impact of price comparison sites on offline price evaluations. </a:t>
            </a:r>
            <a:r>
              <a:rPr lang="pt-BR" sz="1300" b="1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Journal of Retailing</a:t>
            </a:r>
            <a:r>
              <a:rPr lang="pt-BR" sz="13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, v. 91, n. 1, p. 125-139, 2015. DOI: 10.1016/j.jretai.2014.09.003.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pt-BR" sz="13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BRASIL. Lei nº 13.709, de 14 de agosto de 2018. Lei Geral de Proteção de Dados Pessoais (LGPD). </a:t>
            </a:r>
            <a:r>
              <a:rPr lang="pt-BR" sz="1300" b="1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Diário Oficial da União</a:t>
            </a:r>
            <a:r>
              <a:rPr lang="pt-BR" sz="13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, Brasília, DF, 15 ago. 2018.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pt-BR" sz="13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BROWN, M. A. et al. Web scraping for research: legal, ethical, institutional, and scientific considerations. </a:t>
            </a:r>
            <a:r>
              <a:rPr lang="pt-BR" sz="1300" b="1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arXiv</a:t>
            </a:r>
            <a:r>
              <a:rPr lang="pt-BR" sz="13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, 2024. Disponível em: https://arxiv.org/abs/2410.23432.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pt-BR" sz="13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CÂMARA DE REGULAÇÃO DO MERCADO DE MEDICAMENTOS (CMED). </a:t>
            </a:r>
            <a:r>
              <a:rPr lang="pt-BR" sz="1300" b="1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Preços de medicamentos</a:t>
            </a:r>
            <a:r>
              <a:rPr lang="pt-BR" sz="13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. Brasília, DF: ANVISA, 2026. Disponível em: https://www.gov.br/anvisa/pt-br/assuntos/medicamentos/cmed/precos. Acesso em: 20 jun. 2026.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pt-BR" sz="13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DUARTE, B. O.; MORAES, E. A. P. PharmaPrice: sistema web inteligente para comparação de preços de medicamentos com integração de dados regulatórios da CMED. In: CONGRESSO INTERNACIONAL EM TECNOLOGIA E ORGANIZAÇÃO DA INFORMAÇÃO, 12., 2026, Guimarães. </a:t>
            </a:r>
            <a:r>
              <a:rPr lang="pt-BR" sz="1300" b="1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Anais [...]</a:t>
            </a:r>
            <a:r>
              <a:rPr lang="pt-BR" sz="13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 Guimarães: [s. n.], 2026. ISSN 2965-4130. DOI: 10.5281/zenodo.23099458.</a:t>
            </a:r>
          </a:p>
        </p:txBody>
      </p:sp>
      <p:sp>
        <p:nvSpPr>
          <p:cNvPr id="303" name="Numero do slide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i="0" u="none" dirty="0">
                <a:solidFill>
                  <a:srgbClr val="9AA5A3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9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Titulo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i="0" u="none" dirty="0">
                <a:solidFill>
                  <a:srgbClr val="24292E"/>
                </a:solidFill>
                <a:latin typeface="Cambria"/>
                <a:ea typeface="Cambria"/>
                <a:cs typeface="Cambria"/>
                <a:sym typeface="Cambria"/>
              </a:rPr>
              <a:t>Referências (continuação)</a:t>
            </a:r>
          </a:p>
        </p:txBody>
      </p:sp>
      <p:sp>
        <p:nvSpPr>
          <p:cNvPr id="302" name="Lista de referencias"/>
          <p:cNvSpPr txBox="1"/>
          <p:nvPr/>
        </p:nvSpPr>
        <p:spPr>
          <a:xfrm>
            <a:off x="548640" y="1280160"/>
            <a:ext cx="11064240" cy="5074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pt-BR" sz="13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GONÇALO, W. et al. Abordagens regulatórias na proteção de dados em saúde: uma revisão integrativa de 2018 a 2023. </a:t>
            </a:r>
            <a:r>
              <a:rPr lang="pt-BR" sz="1300" b="1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Physis: Revista de Saúde Coletiva</a:t>
            </a:r>
            <a:r>
              <a:rPr lang="pt-BR" sz="13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, v. 35, n. 1, e350113, 2025. DOI: 10.1590/S0103-73312025350113pt.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pt-BR" sz="13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HEVNER, A. R. et al. Design science in information systems research. </a:t>
            </a:r>
            <a:r>
              <a:rPr lang="pt-BR" sz="1300" b="1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MIS Quarterly</a:t>
            </a:r>
            <a:r>
              <a:rPr lang="pt-BR" sz="13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, v. 28, n. 1, p. 75-105, 2004.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pt-BR" sz="13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KLEIN, R. H.; KLEIN, D. C. B.; LUCIANO, E. M. Identificação de mecanismos para a ampliação da transparência em portais de dados abertos: uma análise no contexto brasileiro. </a:t>
            </a:r>
            <a:r>
              <a:rPr lang="pt-BR" sz="1300" b="1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Cadernos EBAPE.BR</a:t>
            </a:r>
            <a:r>
              <a:rPr lang="pt-BR" sz="13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, v. 16, n. 4, p. 692-715, 2018.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pt-BR" sz="13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MELO, V. A. D.; SANTANA, R. S.; GALATO, D. Vinte anos da publicação da regulamentação de preços de medicamentos no Brasil: momento de atualizar? </a:t>
            </a:r>
            <a:r>
              <a:rPr lang="pt-BR" sz="1300" b="1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Cadernos de Saúde Pública</a:t>
            </a:r>
            <a:r>
              <a:rPr lang="pt-BR" sz="13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, v. 40, n. 8, e00029524, 2024. DOI: 10.1590/0102-311XPT029524.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pt-BR" sz="13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MIOZZA, M. </a:t>
            </a:r>
            <a:r>
              <a:rPr lang="pt-BR" sz="1300" b="1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Digital transformation of pharmaceutical industry</a:t>
            </a:r>
            <a:r>
              <a:rPr lang="pt-BR" sz="13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. 2025. Tese (Doutorado em Management) – Department of Management, LUISS University, Roma, 2025. Disponível em: https://iris.luiss.it/bitstream/11385/249839/1/20250506_Miozza.pdf. Acesso em: 12 jul. 2026.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pt-BR" sz="13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PEFFERS, K. et al. A design science research methodology for information systems research. </a:t>
            </a:r>
            <a:r>
              <a:rPr lang="pt-BR" sz="1300" b="1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Journal of Management Information Systems</a:t>
            </a:r>
            <a:r>
              <a:rPr lang="pt-BR" sz="13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, v. 24, n. 3, p. 45-77, 2007.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pt-BR" sz="13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SANTOS-PINTO, C. D. B. et al. Preços e disponibilidade de medicamentos no Programa Farmácia Popular do Brasil. </a:t>
            </a:r>
            <a:r>
              <a:rPr lang="pt-BR" sz="1300" b="1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Revista de Saúde Pública</a:t>
            </a:r>
            <a:r>
              <a:rPr lang="pt-BR" sz="13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, v. 44, n. 4, p. 611-619, 2010.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pt-BR" sz="13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SMITH, M. D.; BRYNJOLFSSON, E. Consumer decision-making at an Internet shopbot: brand still matters. </a:t>
            </a:r>
            <a:r>
              <a:rPr lang="pt-BR" sz="1300" b="1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Journal of Industrial Economics</a:t>
            </a:r>
            <a:r>
              <a:rPr lang="pt-BR" sz="13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, v. 49, n. 4, p. 541-558, 2001.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pt-BR" sz="13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SOUZA, C. M. A.; PARANHOS, J.; HASENCLEVER, L. Comparativo entre preço máximo ao consumidor de medicamentos e preços praticados na internet no Brasil: desalinhamentos e distorções regulatórias. </a:t>
            </a:r>
            <a:r>
              <a:rPr lang="pt-BR" sz="1300" b="1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Ciência &amp; Saúde Coletiva</a:t>
            </a:r>
            <a:r>
              <a:rPr lang="pt-BR" sz="1300" b="0" i="0" u="none" dirty="0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, v. 26, n. 11, p. 5463-5480, 2021. DOI: 10.1590/1413-812320212611.44082020.</a:t>
            </a:r>
          </a:p>
        </p:txBody>
      </p:sp>
      <p:sp>
        <p:nvSpPr>
          <p:cNvPr id="303" name="Numero do slide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i="0" u="none" dirty="0">
                <a:solidFill>
                  <a:srgbClr val="9AA5A3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2026-07-12T23:52:06Z</dcterms:created>
  <dc:creator>PptxGenJS</dc:creator>
</cp:coreProperties>
</file>