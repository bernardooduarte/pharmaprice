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6a88P81NV+EeywUm/yj8r7V1i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B32090-3C25-4073-ABD7-ADC7C44AA47A}">
  <a:tblStyle styleId="{4CB32090-3C25-4073-ABD7-ADC7C44AA47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Bom dia a todos. Meu nome e Bernardo Oliveira Duarte e vou apresentar o TCC 2, a etapa de implementacao do PharmaPrice, sob orientacao do professor Emerson.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problema central e a falta de visibilidade do PMC da CMED no momento da compra. Existem diferencas relevantes entre o preco praticado e o teto regulatorio, como mostram os estudos de Souza e colegas e de Melo e colegas.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Plataformas comerciais como Consulta Remedios e CliqueFarma nao mostram o teto da CMED, funcionam com publicidade e nao abrem o codigo. O PharmaPrice se diferencia justamente nesses pontos.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TCC 1 propos o modelo conceitual, aceito no TOI 2026. O TCC 2 e a fase de implementacao, com escopo delimitado formalmente com o orientador antes de comecar a desenvolver.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objetivo geral e implementar e avaliar tecnicamente o prototipo. Os objetivos especificos cobrem o pipeline CMED, a API REST, o frontend e a verificacao de qualidade por testes.</a:t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Antes de comecar a implementar, alinhei esse escopo por escrito com o Emerson. Ficaram de fora as funcionalidades mais complexas do modelo conceitual original, tratadas como trabalhos futuros.</a:t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arquitetura tem quatro camadas: a coleta e importacao dos dados da CMED, a persistencia em PostgreSQL, a API REST em FastAPI e o frontend em React.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modelo de dados central tem duas entidades: Medicamento, com os campos da tabela da CMED, e HistoricoPreco, com uma relacao um para muitos entre elas.</a:t>
            </a:r>
            <a:endParaRPr/>
          </a:p>
        </p:txBody>
      </p:sp>
      <p:sp>
        <p:nvSpPr>
          <p:cNvPr id="112" name="Google Shape;1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pipeline importa quase 25 mil e quatrocentos medicamentos da planilha oficial, mapeando 74 colunas e calculando o PMC para as 27 unidades federativas.</a:t>
            </a:r>
            <a:endParaRPr/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API tem seis rotas documentadas automaticamente pelo Swagger: busca, detalhe, historico, insercao de preco, comparacao com o PMC e listagem de equivalentes.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Aqui estao as telas reais do frontend: Home, Resultados, Detalhes com a comparacao ao PMC, o grafico de evolucao de precos e a tela de Configuracoes. Como Funciona e Sobre sao paginas informativas complementares.</a:t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backend tem 74 por cento de cobertura de testes, com 36 testes automatizados. Os unicos modulos sem cobertura sao dois scripts de linha de comando, executados manualmente.</a:t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 concluir, a contribuicao principal e mostrar que o modelo conceitual do TCC 1 e tecnicamente viavel. As limitacoes ficam registradas com transparencia. Obrigado, fico a disposicao para perguntas.</a:t>
            </a:r>
            <a:endParaRPr/>
          </a:p>
        </p:txBody>
      </p:sp>
      <p:sp>
        <p:nvSpPr>
          <p:cNvPr id="212" name="Google Shape;2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0A896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02C39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TRABALHO DE CONCLUSÃO DE CURSO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PharmaPrice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Implementação de um protótipo web para comparação de preços de medicamentos com dados CMED/PMC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22960" y="411480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438912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Bernardo Oliveira Duarte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Orientador: Prof. Emerson Augusto Priamo Moraes</a:t>
            </a:r>
            <a:b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Bacharelado em Sistemas de Informação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Instituto Federal do Sudeste de Minas Gerais, Campus Juiz de Fora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8885" y="4114788"/>
            <a:ext cx="13239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463040"/>
            <a:ext cx="5212080" cy="448056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E3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14400" y="18288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600200" y="1783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Preço regulado, mas invisível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33172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 CMED define o Preço Máximo ao Consumidor (PMC) para todo medicamento vendido no país. Esse teto regulatório quase nunca chega ao consumidor no momento da compra.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4023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600200" y="39776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Variação entre farmácias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452628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O mesmo princípio ativo pode custar valores bem diferentes entre estabelecimentos e entre as categorias referência, similar e genérico.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26480" y="1463040"/>
            <a:ext cx="5486400" cy="4480560"/>
          </a:xfrm>
          <a:prstGeom prst="roundRect">
            <a:avLst>
              <a:gd fmla="val 244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Pergunta de pesquisa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92240" y="237744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Como tornar o PMC da CMED visível e compreensível ao consumidor no momento da decisão de compra, de forma tecnicamente viável?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92240" y="521208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Fonte: Souza, Paranhos e Hasenclever (2021); Melo, Santana e Galato (2024)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Plataformas existentes não resolvem isso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Google Shape;50;p3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{4CB32090-3C25-4073-ABD7-ADC7C44AA47A}</a:tableStyleId>
              </a:tblPr>
              <a:tblGrid>
                <a:gridCol w="3291850"/>
                <a:gridCol w="3840475"/>
                <a:gridCol w="3931925"/>
              </a:tblGrid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Critério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Remédios / CliqueFarma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PharmaPrice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explícita do PMC/CMED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PMC dinâmico por UF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se aplica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Sim, nas 27 unidades federativas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negócio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Publicidade e parcerias comerciais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Projeto acadêmico, sem fins comerciais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Código-fonte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Fechado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Aberto (licença MIT)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51" name="Google Shape;51;p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Do modelo conceitual à implementação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fmla="val 2667" name="adj"/>
            </a:avLst>
          </a:prstGeom>
          <a:solidFill>
            <a:srgbClr val="F7FAF9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14400" y="192024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TCC 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914400" y="2514600"/>
            <a:ext cx="44805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Modelo conceitual do PharmaPrice</a:t>
            </a:r>
            <a:br>
              <a:rPr b="1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Aceito no XII Congresso Internacional em Tecnologia e Organização da Informação (TOI 2026)</a:t>
            </a:r>
            <a:br>
              <a:rPr b="0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Previa também: recomendação por IA, geolocalização, convênios de desconto e scraping automatizado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 rot="5400000">
            <a:off x="5867400" y="3474725"/>
            <a:ext cx="457200" cy="457200"/>
          </a:xfrm>
          <a:prstGeom prst="triangle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400800" y="1645920"/>
            <a:ext cx="5212080" cy="4114800"/>
          </a:xfrm>
          <a:prstGeom prst="roundRect">
            <a:avLst>
              <a:gd fmla="val 266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766560" y="192024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TCC II (este trabalho)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766560" y="2514600"/>
            <a:ext cx="44805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Protótipo funcional implementado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Pipeline CMED, API REST documentada e frontend web com o fluxo principal de uso</a:t>
            </a:r>
            <a:br>
              <a:rPr b="0" i="0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Escopo delimitado formalmente com o orientador antes do desenvolvimento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Objetivo geral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97280" y="1828800"/>
            <a:ext cx="9966960" cy="1463040"/>
          </a:xfrm>
          <a:prstGeom prst="roundRect">
            <a:avLst>
              <a:gd fmla="val 75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463040" y="1920240"/>
            <a:ext cx="9235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Implementar e avaliar tecnicamente um protótipo funcional do PharmaPrice, validando a viabilidade do modelo conceitual proposto no TCC I.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645935" y="374904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64593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292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Pipeline de importação da tabela CMED/PMC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434855" y="374904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43485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9184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API REST: busca, histórico e comparação de preços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223775" y="374904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22377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08076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Frontend web com o fluxo principal de 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012695" y="374904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01269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86968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Verificação de qualidade por testes automatizados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Escopo: o que entrou e o que ficou de fora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fmla="val 2553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14400" y="2286000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Pipeline de importação CMED/PMC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Busca fuzzy por nome ou princípio ativo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PMC dinâmico nas 27 UFs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Histórico e comparação de preços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API REST documentada (Swagger)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Frontend com 7 telas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Testes automatizados (74% de cobertura)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263640" y="1554480"/>
            <a:ext cx="5394960" cy="4297680"/>
          </a:xfrm>
          <a:prstGeom prst="roundRect">
            <a:avLst>
              <a:gd fmla="val 2553" name="adj"/>
            </a:avLst>
          </a:prstGeom>
          <a:solidFill>
            <a:srgbClr val="FB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629400" y="2286000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Coleta automatizada de preços (scraping)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Recomendação por inteligência artificial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Geolocalização com raio configurável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Login e cadastro de usuário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Convênios de desconto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Arquitetura geral do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63840" y="5688093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Quatro camadas: coleta/importação, persistência, API REST e frontend web.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62632"/>
            <a:ext cx="11887202" cy="373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Modelo de dados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5990305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Medicamento e HistoricoPreco, relacionados em 1 para 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9275" y="1188720"/>
            <a:ext cx="7993447" cy="486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Pipeline de importação CMED em números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82296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2296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25.392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00584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medicamentos importados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352044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52044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370332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colunas mapeadas da planilha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21792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621792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40080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unidades federativas com PMC calculado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91540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891540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909828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chave única por código GGREM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22960" y="484632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Os dados vêm da planilha pública da ANVISA/CMED, lida com openpyxl e inseridos no banco por upsert.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API REST: 6 endpoints documentados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85800" y="1682496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85800" y="1682496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645920" y="15544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/medicamentos/?q=&amp;uf=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766560" y="155448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Busca fuzzy com PMC por UF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48640" y="2313432"/>
            <a:ext cx="11064240" cy="685800"/>
          </a:xfrm>
          <a:prstGeom prst="rect">
            <a:avLst/>
          </a:prstGeom>
          <a:solidFill>
            <a:srgbClr val="F0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85800" y="2441448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85800" y="2441448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1645920" y="2313432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766560" y="2313432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Detalhe completo do medicamento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3072384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85800" y="3200400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85800" y="3200400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645920" y="3072384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/medicamentos/{id}/historico-precos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6766560" y="3072384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Histórico de preços coletados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48640" y="3831336"/>
            <a:ext cx="11064240" cy="685800"/>
          </a:xfrm>
          <a:prstGeom prst="rect">
            <a:avLst/>
          </a:prstGeom>
          <a:solidFill>
            <a:srgbClr val="F0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85800" y="3959352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85800" y="3959352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645920" y="3831336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/medicamentos/{id}/historico-precos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766560" y="3831336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Insere novo registro de preço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48640" y="4590288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85800" y="4718304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85800" y="4718304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645920" y="459028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/medicamentos/{id}/comparacao-precos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766560" y="459028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Compara preço coletado com o PMC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solidFill>
            <a:srgbClr val="F0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85800" y="5477256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85800" y="5477256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645920" y="534924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/medicamentos/{id}/equivalentes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766560" y="534924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Lista medicamentos com a mesma substância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Frontend: telas reais da aplicação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781172" y="1362456"/>
            <a:ext cx="3035808" cy="1938528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2700">
            <a:solidFill>
              <a:srgbClr val="D7E1D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s/figura3-home.png"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036" y="1417320"/>
            <a:ext cx="292608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/>
          <p:nvPr/>
        </p:nvSpPr>
        <p:spPr>
          <a:xfrm>
            <a:off x="781172" y="3355848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3935852" y="1362456"/>
            <a:ext cx="3035808" cy="1938528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2700">
            <a:solidFill>
              <a:srgbClr val="D7E1D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s/figura4-resultados.png"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0716" y="1417320"/>
            <a:ext cx="292608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3935852" y="3355848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090532" y="1362456"/>
            <a:ext cx="4289816" cy="1938528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2700">
            <a:solidFill>
              <a:srgbClr val="D7E1D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s/figura5-detalhes.png" id="188" name="Google Shape;18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5396" y="1417320"/>
            <a:ext cx="4180088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/>
          <p:nvPr/>
        </p:nvSpPr>
        <p:spPr>
          <a:xfrm>
            <a:off x="7090532" y="3355848"/>
            <a:ext cx="428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Detalhes (comparação com o PMC)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2387951" y="3739896"/>
            <a:ext cx="3965762" cy="2075688"/>
          </a:xfrm>
          <a:prstGeom prst="roundRect">
            <a:avLst>
              <a:gd fmla="val 2643" name="adj"/>
            </a:avLst>
          </a:prstGeom>
          <a:solidFill>
            <a:srgbClr val="FFFFFF"/>
          </a:solidFill>
          <a:ln cap="flat" cmpd="sng" w="12700">
            <a:solidFill>
              <a:srgbClr val="D7E1D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s/figura6-historico.png" id="191" name="Google Shape;19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2815" y="3794760"/>
            <a:ext cx="3856034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2387951" y="5870448"/>
            <a:ext cx="396576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Histórico de preços (evolução)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518305" y="3739896"/>
            <a:ext cx="3255264" cy="2075688"/>
          </a:xfrm>
          <a:prstGeom prst="roundRect">
            <a:avLst>
              <a:gd fmla="val 2643" name="adj"/>
            </a:avLst>
          </a:prstGeom>
          <a:solidFill>
            <a:srgbClr val="FFFFFF"/>
          </a:solidFill>
          <a:ln cap="flat" cmpd="sng" w="12700">
            <a:solidFill>
              <a:srgbClr val="D7E1D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s/figura7-configuracoes.png" id="194" name="Google Shape;19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3169" y="3794760"/>
            <a:ext cx="3145536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6518305" y="5870448"/>
            <a:ext cx="3255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Configurações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87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876"/>
                </a:solidFill>
                <a:latin typeface="Calibri"/>
                <a:ea typeface="Calibri"/>
                <a:cs typeface="Calibri"/>
                <a:sym typeface="Calibri"/>
              </a:rPr>
              <a:t>Como Funciona e Sobre: páginas informativas, sem captura nesta versão da apresentação.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Testes e qualidade de software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822960" y="1737360"/>
            <a:ext cx="3291840" cy="32918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22960" y="233172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74%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22960" y="356616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de cobertura 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36 testes, todos aprovados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12"/>
          <p:cNvGraphicFramePr/>
          <p:nvPr/>
        </p:nvGraphicFramePr>
        <p:xfrm>
          <a:off x="46634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{4CB32090-3C25-4073-ABD7-ADC7C44AA47A}</a:tableStyleId>
              </a:tblPr>
              <a:tblGrid>
                <a:gridCol w="4389125"/>
                <a:gridCol w="2560325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api/medicamentos.py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db/models.py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core/config.py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cmed/pipeline.py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db/session.py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Scripts de linha de comando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 (execução manual)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-1280160" y="-1645920"/>
            <a:ext cx="4114800" cy="4114800"/>
          </a:xfrm>
          <a:prstGeom prst="ellipse">
            <a:avLst/>
          </a:prstGeom>
          <a:solidFill>
            <a:srgbClr val="00A896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Considerações finais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0080" y="1737360"/>
            <a:ext cx="106070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Contribuição principal</a:t>
            </a:r>
            <a:b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Demonstrar, na prática, que o núcleo do modelo conceitual do TCC I é tecnicamente viável com tecnologias abertas, sem depender de acordos comerciais ou infraestrutura complexa de coleta de dados.</a:t>
            </a:r>
            <a:b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Limitações reconhecidas</a:t>
            </a:r>
            <a:b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recomendação por IA, sem coleta automatizada, sem validação empírica com usuários reais nesta etapa.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40080" y="58521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Obrigado. Perguntas?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2026-07-12T23:52:06Z</dcterms:created>
  <dc:creator>PptxGenJS</dc:creator>
</cp:coreProperties>
</file>